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424fc984ab484f" /><Relationship Type="http://schemas.openxmlformats.org/officeDocument/2006/relationships/extended-properties" Target="/docProps/app.xml" Id="R09aa0a9dba06428d" /><Relationship Type="http://schemas.openxmlformats.org/officeDocument/2006/relationships/officeDocument" Target="/ppt/presentation.xml" Id="R3498262f60a246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47384e188944b8"/>
  </p:sldMasterIdLst>
  <p:notesMasterIdLst>
    <p:notesMasterId xmlns:r="http://schemas.openxmlformats.org/officeDocument/2006/relationships" r:id="Rcf89b5b6603c499b"/>
  </p:notesMasterIdLst>
  <p:sldIdLst>
    <p:sldId xmlns:r="http://schemas.openxmlformats.org/officeDocument/2006/relationships" id="256" r:id="R51b3efd9d0da4fbb"/>
    <p:sldId xmlns:r="http://schemas.openxmlformats.org/officeDocument/2006/relationships" id="257" r:id="R522aa02ae642490a"/>
    <p:sldId xmlns:r="http://schemas.openxmlformats.org/officeDocument/2006/relationships" id="258" r:id="R84d459bd5d0d4ff9"/>
    <p:sldId xmlns:r="http://schemas.openxmlformats.org/officeDocument/2006/relationships" id="259" r:id="Re02018adcbd24c31"/>
    <p:sldId xmlns:r="http://schemas.openxmlformats.org/officeDocument/2006/relationships" id="260" r:id="R1f0108685a5c4798"/>
    <p:sldId xmlns:r="http://schemas.openxmlformats.org/officeDocument/2006/relationships" id="261" r:id="Rd02b8be3e9d547b2"/>
    <p:sldId xmlns:r="http://schemas.openxmlformats.org/officeDocument/2006/relationships" id="262" r:id="Rea3fe29633b74e5f"/>
    <p:sldId xmlns:r="http://schemas.openxmlformats.org/officeDocument/2006/relationships" id="263" r:id="R3d25f051855c493e"/>
    <p:sldId xmlns:r="http://schemas.openxmlformats.org/officeDocument/2006/relationships" id="264" r:id="R2e61e6474a3e4c0d"/>
    <p:sldId xmlns:r="http://schemas.openxmlformats.org/officeDocument/2006/relationships" id="265" r:id="R85443b7414314316"/>
    <p:sldId xmlns:r="http://schemas.openxmlformats.org/officeDocument/2006/relationships" id="266" r:id="Rda0ef646c1e14226"/>
    <p:sldId xmlns:r="http://schemas.openxmlformats.org/officeDocument/2006/relationships" id="267" r:id="Rd477c18d44664180"/>
    <p:sldId xmlns:r="http://schemas.openxmlformats.org/officeDocument/2006/relationships" id="268" r:id="R198c5b11075c44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47384e188944b8" /><Relationship Type="http://schemas.openxmlformats.org/officeDocument/2006/relationships/theme" Target="/ppt/theme/theme1.xml" Id="R2feb447ad3f14ecb" /><Relationship Type="http://schemas.openxmlformats.org/officeDocument/2006/relationships/notesMaster" Target="/ppt/notesMasters/notesMaster1.xml" Id="Rcf89b5b6603c499b" /><Relationship Type="http://schemas.openxmlformats.org/officeDocument/2006/relationships/presProps" Target="/ppt/presProps.xml" Id="R3adde4b423084af9" /><Relationship Type="http://schemas.openxmlformats.org/officeDocument/2006/relationships/viewProps" Target="/ppt/viewProps.xml" Id="R529c5f6a117a44d3" /><Relationship Type="http://schemas.openxmlformats.org/officeDocument/2006/relationships/tableStyles" Target="/ppt/tableStyles.xml" Id="Rfa71f31d275348b0" /><Relationship Type="http://schemas.openxmlformats.org/officeDocument/2006/relationships/slide" Target="/ppt/slides/slide1.xml" Id="R51b3efd9d0da4fbb" /><Relationship Type="http://schemas.openxmlformats.org/officeDocument/2006/relationships/slide" Target="/ppt/slides/slide2.xml" Id="R522aa02ae642490a" /><Relationship Type="http://schemas.openxmlformats.org/officeDocument/2006/relationships/slide" Target="/ppt/slides/slide3.xml" Id="R84d459bd5d0d4ff9" /><Relationship Type="http://schemas.openxmlformats.org/officeDocument/2006/relationships/slide" Target="/ppt/slides/slide4.xml" Id="Re02018adcbd24c31" /><Relationship Type="http://schemas.openxmlformats.org/officeDocument/2006/relationships/slide" Target="/ppt/slides/slide5.xml" Id="R1f0108685a5c4798" /><Relationship Type="http://schemas.openxmlformats.org/officeDocument/2006/relationships/slide" Target="/ppt/slides/slide6.xml" Id="Rd02b8be3e9d547b2" /><Relationship Type="http://schemas.openxmlformats.org/officeDocument/2006/relationships/slide" Target="/ppt/slides/slide7.xml" Id="Rea3fe29633b74e5f" /><Relationship Type="http://schemas.openxmlformats.org/officeDocument/2006/relationships/slide" Target="/ppt/slides/slide8.xml" Id="R3d25f051855c493e" /><Relationship Type="http://schemas.openxmlformats.org/officeDocument/2006/relationships/slide" Target="/ppt/slides/slide9.xml" Id="R2e61e6474a3e4c0d" /><Relationship Type="http://schemas.openxmlformats.org/officeDocument/2006/relationships/slide" Target="/ppt/slides/slide10.xml" Id="R85443b7414314316" /><Relationship Type="http://schemas.openxmlformats.org/officeDocument/2006/relationships/slide" Target="/ppt/slides/slide11.xml" Id="Rda0ef646c1e14226" /><Relationship Type="http://schemas.openxmlformats.org/officeDocument/2006/relationships/slide" Target="/ppt/slides/slide12.xml" Id="Rd477c18d44664180" /><Relationship Type="http://schemas.openxmlformats.org/officeDocument/2006/relationships/slide" Target="/ppt/slides/slide13.xml" Id="R198c5b11075c44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85fbe7cbde845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52a4a286354122" /><Relationship Type="http://schemas.openxmlformats.org/officeDocument/2006/relationships/notesMaster" Target="/ppt/notesMasters/notesMaster1.xml" Id="R343b3a10a1494b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d5adefe7774313" /><Relationship Type="http://schemas.openxmlformats.org/officeDocument/2006/relationships/notesMaster" Target="/ppt/notesMasters/notesMaster1.xml" Id="R9a0724f190c445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a8a6536e342aa" /><Relationship Type="http://schemas.openxmlformats.org/officeDocument/2006/relationships/notesMaster" Target="/ppt/notesMasters/notesMaster1.xml" Id="Rd1f27462d6f2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87219e88264e5a" /><Relationship Type="http://schemas.openxmlformats.org/officeDocument/2006/relationships/notesMaster" Target="/ppt/notesMasters/notesMaster1.xml" Id="Recfcfbc077b942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70e2ffffe94bf1" /><Relationship Type="http://schemas.openxmlformats.org/officeDocument/2006/relationships/notesMaster" Target="/ppt/notesMasters/notesMaster1.xml" Id="Ra809fe41416245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94b0df1fce474b" /><Relationship Type="http://schemas.openxmlformats.org/officeDocument/2006/relationships/notesMaster" Target="/ppt/notesMasters/notesMaster1.xml" Id="R41fef843165443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9828f6be2a4dca" /><Relationship Type="http://schemas.openxmlformats.org/officeDocument/2006/relationships/notesMaster" Target="/ppt/notesMasters/notesMaster1.xml" Id="R9ab347a91b2a46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5d490b79914c96" /><Relationship Type="http://schemas.openxmlformats.org/officeDocument/2006/relationships/notesMaster" Target="/ppt/notesMasters/notesMaster1.xml" Id="Ra298639c91c442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c3df040a9c43ae" /><Relationship Type="http://schemas.openxmlformats.org/officeDocument/2006/relationships/notesMaster" Target="/ppt/notesMasters/notesMaster1.xml" Id="R47f908c5abd644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dc374c8d554aa9" /><Relationship Type="http://schemas.openxmlformats.org/officeDocument/2006/relationships/notesMaster" Target="/ppt/notesMasters/notesMaster1.xml" Id="R06f11202c3464a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9b073bd2fa447a" /><Relationship Type="http://schemas.openxmlformats.org/officeDocument/2006/relationships/notesMaster" Target="/ppt/notesMasters/notesMaster1.xml" Id="R07a966536fcd49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51f170ea254842" /><Relationship Type="http://schemas.openxmlformats.org/officeDocument/2006/relationships/notesMaster" Target="/ppt/notesMasters/notesMaster1.xml" Id="R950e8bd3fb0b42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7ff6d2faa347da" /><Relationship Type="http://schemas.openxmlformats.org/officeDocument/2006/relationships/notesMaster" Target="/ppt/notesMasters/notesMaster1.xml" Id="R0de764974d2c42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98c5e812949f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c37621c12794a80" /><Relationship Type="http://schemas.openxmlformats.org/officeDocument/2006/relationships/slideLayout" Target="/ppt/slideLayouts/slideLayout2.xml" Id="R6bb16ba80af842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b16ba80af842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ffdc4cc04a4202" /><Relationship Type="http://schemas.openxmlformats.org/officeDocument/2006/relationships/notesSlide" Target="/ppt/notesSlides/notesSlide1.xml" Id="R08e30c40ae5646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55f10e8fb94db6" /><Relationship Type="http://schemas.openxmlformats.org/officeDocument/2006/relationships/notesSlide" Target="/ppt/notesSlides/notesSlide2.xml" Id="Rc1b9c343837c4a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24108562724b11" /><Relationship Type="http://schemas.openxmlformats.org/officeDocument/2006/relationships/notesSlide" Target="/ppt/notesSlides/notesSlide3.xml" Id="Rfae39601158540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7707aeeb3249e5" /><Relationship Type="http://schemas.openxmlformats.org/officeDocument/2006/relationships/notesSlide" Target="/ppt/notesSlides/notesSlide4.xml" Id="Raeb0be18527745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ded47512e045c5" /><Relationship Type="http://schemas.openxmlformats.org/officeDocument/2006/relationships/notesSlide" Target="/ppt/notesSlides/notesSlide5.xml" Id="R9f6794dbad8043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3e5fa46fe94b78" /><Relationship Type="http://schemas.openxmlformats.org/officeDocument/2006/relationships/notesSlide" Target="/ppt/notesSlides/notesSlide6.xml" Id="R800646aed7d648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e31f523bc8420a" /><Relationship Type="http://schemas.openxmlformats.org/officeDocument/2006/relationships/notesSlide" Target="/ppt/notesSlides/notesSlide7.xml" Id="R110991de723f46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431c50b63c45fa" /><Relationship Type="http://schemas.openxmlformats.org/officeDocument/2006/relationships/notesSlide" Target="/ppt/notesSlides/notesSlide8.xml" Id="R5efcfe7de94741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5e182acaa94608" /><Relationship Type="http://schemas.openxmlformats.org/officeDocument/2006/relationships/notesSlide" Target="/ppt/notesSlides/notesSlide9.xml" Id="R9a5c1d854f374a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94454ee999415e" /><Relationship Type="http://schemas.openxmlformats.org/officeDocument/2006/relationships/notesSlide" Target="/ppt/notesSlides/notesSlide10.xml" Id="Rb410ea41296443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f20d4253d64a68" /><Relationship Type="http://schemas.openxmlformats.org/officeDocument/2006/relationships/notesSlide" Target="/ppt/notesSlides/notesSlide11.xml" Id="Rf6156def107a49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1439d1b9b84173" /><Relationship Type="http://schemas.openxmlformats.org/officeDocument/2006/relationships/notesSlide" Target="/ppt/notesSlides/notesSlide12.xml" Id="Rd9fb05df3b6846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5a102f798b4065" /><Relationship Type="http://schemas.openxmlformats.org/officeDocument/2006/relationships/notesSlide" Target="/ppt/notesSlides/notesSlide13.xml" Id="R19ee1ae38caa4e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A54734-6ED0-431F-BD4A-CD88E99D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EAD88-14A4-4093-87C8-4B9E15A3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12C07-BFAF-4DB1-8A68-AD47A142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27F29-8165-47D6-BB97-034E4088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گزارش پیشرفت دو ماه اخیر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356CF-DAB5-4A6B-BB79-42F88D09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668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9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از یک ایدهٔ معماری</a:t>
            </a:r>
          </a:p>
          <a:p xmlns:a="http://schemas.openxmlformats.org/drawingml/2006/main">
            <a:pPr algn="r">
              <a:defRPr sz="39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تا اثبات علّیِ نقش 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B2EC1-00CE-48D8-AC8D-5D8D5B2B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95625"/>
            <a:ext cx="6162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روایت آزمایش‌ها، شکست‌ها، اصلاح‌ها و تصمیم‌های پژوهش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B1E2A-F30C-41C6-AF5E-2AB054FB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62375"/>
            <a:ext cx="723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85EDF-8847-497F-A950-40F325D9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05250"/>
            <a:ext cx="6896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پیام اصلی: K زمانی به سیگنال مقیاس تبدیل می‌شود که هدف آموزش مقیاس مطلق را حفظ کند و داده واقعاً K را تغییر دهد.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488A3-F5A5-4D4D-9226-685AD6D0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6D18D-CB86-4A93-945C-7E995DB9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527/654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BDD8D-5F57-4640-9E2F-223B60C5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نشت کشف‌شده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5193E-AA0E-43E3-AC3F-D1410641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5782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5 معیار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AA475-DD42-4112-9454-1B34189B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905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بهبود نهایی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40661-590E-4C7A-B07A-99E9BDB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5782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0.93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F5225-252E-4B95-9534-CDC884D9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905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شیب پاسخ به 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A606F-0621-468E-81FC-02E37C7B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457825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95D4B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B95D4B"/>
                </a:solidFill>
                <a:latin typeface="Tahoma"/>
                <a:ea typeface="Tahoma"/>
                <a:cs typeface="Tahoma"/>
              </a:rPr>
              <a:t>+59%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FA508-310B-49F9-B77C-3740982C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905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آسیب حذف 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F3DA0-AAA3-4C68-BD23-C5403F42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715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نسخهٔ ارائه برای جلسه با استاد | مرداد ۱۴۰۵</a:t>
            </a:r>
          </a:p>
        </p:txBody>
      </p:sp>
    </p:spTree>
    <p:extLst>
      <p:ext uri="{BB962C8B-B14F-4D97-AF65-F5344CB8AC3E}">
        <p14:creationId xmlns:p14="http://schemas.microsoft.com/office/powerpoint/2010/main" val="6866403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3D02B-D2C2-4584-9BDE-5CEFDFB4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2">
            <a:extLst xmlns:a="http://schemas.openxmlformats.org/drawingml/2006/main">
              <a:ext uri="{FF2B5EF4-FFF2-40B4-BE49-F238E27FC236}">
                <a16:creationId xmlns:a16="http://schemas.microsoft.com/office/drawing/2014/main" id="{79DE0F87-6B1B-4967-B110-4AB964BA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2">
            <a:extLst xmlns:a="http://schemas.openxmlformats.org/drawingml/2006/main">
              <a:ext uri="{FF2B5EF4-FFF2-40B4-BE49-F238E27FC236}">
                <a16:creationId xmlns:a16="http://schemas.microsoft.com/office/drawing/2014/main" id="{F159F468-ED3F-4FC4-8D74-C6D7D854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صورت مسئله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37DBD-61AA-4D51-8A8A-CBA76C47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0461D-92EC-4E45-92AB-F7FDCCD1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93236-2F9F-4F1F-8C70-B33D18B8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DB823-51B2-4CCD-822B-B1B0E5DE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خودِ K کافی نیست؛ شناسایی مقیاس به نوع هدف و تنوع دوربین وابسته است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D4722-7CD7-416A-9A4C-F3F516A2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766DD-80D6-46B9-A5B7-FBC9107A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09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BB41E-DA80-4F54-9441-2DD5610D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095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95D4B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B95D4B"/>
                </a:solidFill>
                <a:latin typeface="Tahoma"/>
                <a:ea typeface="Tahoma"/>
                <a:cs typeface="Tahoma"/>
              </a:rPr>
              <a:t>عمق نسبی + K ثابت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65DDF-CAF4-49C4-B507-14B491F7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هم‌ترازی مقیاس در ارزیابی، اثر مقیاس مطلق را حذف می‌کند. شبکه می‌تواند K را نادیده بگیرد و همچنان نمرهٔ خوب بگیرد.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1EDB5-94FA-4CCD-98B8-9A08D0EF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95D4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B95D4B"/>
                </a:solidFill>
                <a:latin typeface="Tahoma"/>
                <a:ea typeface="Tahoma"/>
                <a:cs typeface="Tahoma"/>
              </a:rPr>
              <a:t>نتیجه: تفاوت پیشنهادی/کنترل ناچیز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4EA61-5B53-4B4E-B6D6-BFC8CF51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95500"/>
            <a:ext cx="4095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عمق متریک + K متنوع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FB534-A565-40CE-9FFB-F605437B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670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هدف، مقیاس فیزیکی را نگه می‌دارد و focal jitter رابطهٔ هندسی کنترل‌شده‌ای میان f و Z ایجاد می‌کند.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F845F-BD62-4B25-8D87-F0F45E63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4812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نتیجه: K به سیگنال قابل‌آزمایش تبدیل شد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98CC1-B54C-4DCD-993F-AF4D2E5A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00625"/>
            <a:ext cx="609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266FA-636F-4614-9F9B-E84EBB7A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43500"/>
            <a:ext cx="575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(f , Z) → (αf , αZ)    |    RGB ، cx و cy ثابت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C5657-5D4B-4FEF-B49C-40DC65E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منبع: بخش‌های ۳.۷.۷، ۳.۷.۸ و ۴.۵ مقاله</a:t>
            </a:r>
          </a:p>
        </p:txBody>
      </p:sp>
    </p:spTree>
    <p:extLst>
      <p:ext uri="{BB962C8B-B14F-4D97-AF65-F5344CB8AC3E}">
        <p14:creationId xmlns:p14="http://schemas.microsoft.com/office/powerpoint/2010/main" val="4239620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5EB84-60AD-4617-BD3E-3E75A3DD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3">
            <a:extLst xmlns:a="http://schemas.openxmlformats.org/drawingml/2006/main">
              <a:ext uri="{FF2B5EF4-FFF2-40B4-BE49-F238E27FC236}">
                <a16:creationId xmlns:a16="http://schemas.microsoft.com/office/drawing/2014/main" id="{055BEB36-039C-43CF-B66D-4EEBC6FA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3">
            <a:extLst xmlns:a="http://schemas.openxmlformats.org/drawingml/2006/main">
              <a:ext uri="{FF2B5EF4-FFF2-40B4-BE49-F238E27FC236}">
                <a16:creationId xmlns:a16="http://schemas.microsoft.com/office/drawing/2014/main" id="{25B10169-31F8-41E7-87E5-B6A5F98F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معماری پیشنهادی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DF263-CE75-436C-8F6D-B3656EE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BB5EF-28E1-4EEF-9673-D0778C7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F1EA4-CBAA-454D-8B38-78940726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67AD3-6DDD-40AE-88BE-7012406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مسیر اطلاعات دوربین کوتاه است: K به توکن تبدیل و در رمزگشا تزریق می‌شود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60FEA-E4BA-4B5C-B62D-21D6BA7F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05E61-E4D7-4146-9CB2-3D09FFDF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2098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4E99D-CA1B-4C57-A9F8-280ECDEC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2669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AB3AB-613C-489A-BE6E-6704E521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67000"/>
            <a:ext cx="2381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ورودی‌ها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DBD86-F4D1-418A-8788-27B73F78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383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C7CBF-0019-4954-82FB-235F8B9E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98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C9FE6-B434-418B-B4BD-A95C6093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669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90837-B990-457C-A72D-99A688BC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67000"/>
            <a:ext cx="2381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رمزگذاری و ادغام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F1E4C-DAD6-4560-A13A-831CC084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10E7F-8BA1-4064-ADD8-2FDDBD45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098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65CC7-1549-4943-B942-F7AE4509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66950"/>
            <a:ext cx="22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2C452-599C-494D-9C7B-F6F5AFB4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381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خروجی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2415D-C7CE-4F99-942C-F9015A55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385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تصویر RGB</a:t>
            </a:r>
          </a:p>
          <a:p xmlns:a="http://schemas.openxmlformats.org/drawingml/2006/main">
            <a:pPr algn="r">
              <a:defRPr sz="15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+ ماتریس K نرمال‌شده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813C6-D6F7-4EEA-8D2B-8894D3F5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051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MLP برای camera token</a:t>
            </a:r>
          </a:p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+ ویژگی‌های DPT/ViT</a:t>
            </a:r>
          </a:p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+ ادغام در رمزگشا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774BD-311F-4371-85BB-4F8D7A0D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نقشهٔ عمق</a:t>
            </a:r>
          </a:p>
          <a:p xmlns:a="http://schemas.openxmlformats.org/drawingml/2006/main">
            <a:pPr algn="r">
              <a:defRPr sz="16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نسبی یا متریک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3474C-1901-4972-947A-7AFFF8EE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5E986D-5F0A-41DA-B9E3-5BC96FA8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623E6-9984-400B-A1C8-3721C35B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95875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K فقط یک ورودی کمکی نیست؛ آزمون knockout بررسی می‌کند آیا خروجی واقعاً به آن وابسته شده است.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15877-7C54-487E-9A46-152C8D5C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جزئیات پیاده‌سازی: بخش ۳.۷.۷ و فایل‌های مدل/آموزش پروژه</a:t>
            </a:r>
          </a:p>
        </p:txBody>
      </p:sp>
    </p:spTree>
    <p:extLst>
      <p:ext uri="{BB962C8B-B14F-4D97-AF65-F5344CB8AC3E}">
        <p14:creationId xmlns:p14="http://schemas.microsoft.com/office/powerpoint/2010/main" val="15402887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A5D1D1-FF1D-43A0-8881-748676C4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4">
            <a:extLst xmlns:a="http://schemas.openxmlformats.org/drawingml/2006/main">
              <a:ext uri="{FF2B5EF4-FFF2-40B4-BE49-F238E27FC236}">
                <a16:creationId xmlns:a16="http://schemas.microsoft.com/office/drawing/2014/main" id="{990B8E5C-E59A-4DE8-9A47-BB664B1D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4">
            <a:extLst xmlns:a="http://schemas.openxmlformats.org/drawingml/2006/main">
              <a:ext uri="{FF2B5EF4-FFF2-40B4-BE49-F238E27FC236}">
                <a16:creationId xmlns:a16="http://schemas.microsoft.com/office/drawing/2014/main" id="{31D6FD74-FD20-4FE9-87A3-DFA081C2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مسیر تجربی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64B9F-E7AD-4A1C-8DB1-686B831E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6425A-BC92-4B9F-AB8A-0EAAEB3F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77163-C22E-4EC5-B9E2-1EB7C257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19331-BDE2-4680-9C7C-83A73B48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پیشرفت واقعی از شش اصلاح متوالی ساخته شد، نه از یک اجرای موفق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CAD7E-B500-4B55-B0F4-06E768BB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9763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7BB3E-843D-43A7-9EA0-F4E3EEA8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A2477-C85B-4412-B7D6-AB4BA29E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861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D1234-C0A5-4916-9D7B-07497165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بازسازی پایه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5320F-B0F9-43F6-BD26-B3FEBA9D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پروتکل و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6A2E8-CBFA-4009-98A6-C9EE016F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1B8C2-2EAB-418D-B5D0-2B3A2916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E7074-075E-4531-8F3F-0B7C92E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67125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کشف نشت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920E2-7D25-46C5-9237-CF75C898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038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527/654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9E93D-304E-461F-B714-AA1E685C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5B10C-CB14-4621-B8F3-D36F9935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861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64759-F3B3-479B-8BA0-09E761AE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67125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شکست zero-shot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64453-C561-4605-8851-6F8165A6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38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تغییر مسیر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7202DB-A50E-40B8-AABA-68C7099B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148590-AB47-49F7-A2EC-D5FF6B4B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CEFC4-6339-4F5C-B05B-EA74164A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67125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اصلاح ViT-L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3AA098-A929-47F9-A922-EF2F3496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38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depth↔disparity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C2D77-CE8A-479B-B5B9-30493A2A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BB26B2-8B1D-4CC4-84AB-E5B17D4A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861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65FC16-34EF-436F-A0E3-E801C747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67125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هندسهٔ دقیق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420664-3602-414D-935B-346771D6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8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zoom-crop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435DB0-EFFA-4686-877B-2CBBBC8C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D479B8-4584-43B4-B649-173869D9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86100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C1A9AB-12DC-4372-AFC9-6CE35644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67125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اثبات علّی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713DDA-83F1-4E77-9F3D-6753F31D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03860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jitter + knockout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FECD06-4CA0-4516-880B-D105E1E3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048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5D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B95D4B"/>
                </a:solidFill>
                <a:latin typeface="Tahoma"/>
                <a:ea typeface="Tahoma"/>
                <a:cs typeface="Tahoma"/>
              </a:rPr>
              <a:t>اعتبار پروتکل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B55821-76B6-49B7-8BF8-19DDA74A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3812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C3812A"/>
                </a:solidFill>
                <a:latin typeface="Tahoma"/>
                <a:ea typeface="Tahoma"/>
                <a:cs typeface="Tahoma"/>
              </a:rPr>
              <a:t>اعتبار قرارداد خروجی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6B742B-7413-486E-B443-BB8EBD9B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3048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اعتبار علّی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A3F5AB-9016-411B-838C-5BFBDB38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EE77B2-FE82-4498-85BD-F79EB107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95875"/>
            <a:ext cx="689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در هر مرحله: مشاهده → تفسیر → تصمیم → اجرای کنترل‌شده → نتیجه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D60D40-A885-4E44-80E0-5B60B27D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منبع: جدول ۴.۳ و روایت کامل مسیر تجربی</a:t>
            </a:r>
          </a:p>
        </p:txBody>
      </p:sp>
    </p:spTree>
    <p:extLst>
      <p:ext uri="{BB962C8B-B14F-4D97-AF65-F5344CB8AC3E}">
        <p14:creationId xmlns:p14="http://schemas.microsoft.com/office/powerpoint/2010/main" val="15797041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5D7268-0019-4E44-B66C-C5FCE6EE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5">
            <a:extLst xmlns:a="http://schemas.openxmlformats.org/drawingml/2006/main">
              <a:ext uri="{FF2B5EF4-FFF2-40B4-BE49-F238E27FC236}">
                <a16:creationId xmlns:a16="http://schemas.microsoft.com/office/drawing/2014/main" id="{93E6EB16-A635-47AA-BA67-8D8875B1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5">
            <a:extLst xmlns:a="http://schemas.openxmlformats.org/drawingml/2006/main">
              <a:ext uri="{FF2B5EF4-FFF2-40B4-BE49-F238E27FC236}">
                <a16:creationId xmlns:a16="http://schemas.microsoft.com/office/drawing/2014/main" id="{CD2C6307-503F-4C4A-8BBB-658CA50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شکست اول و اصلاح پروتکل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86588-01DF-4910-961F-42FC9941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5DFFB-E947-4161-BB23-4EF54148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FFA19-C296-4848-B036-D70B2FCB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F7B1C-561A-41DA-B232-5641D30A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نشت داده و افت zero-shot نشان دادند که مشکل، اعتبار آزمایش بود نه فرضیهٔ 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BF22E-64C9-45B6-BCBF-9220EB73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B95D4B"/>
                </a:solidFill>
                <a:latin typeface="Tahoma"/>
                <a:ea typeface="Tahoma"/>
                <a:cs typeface="Tahoma"/>
              </a:defRPr>
            </a:pPr>
            <a:r>
              <a:rPr sz="4725" b="1">
                <a:solidFill>
                  <a:srgbClr val="B95D4B"/>
                </a:solidFill>
                <a:latin typeface="Tahoma"/>
                <a:ea typeface="Tahoma"/>
                <a:cs typeface="Tahoma"/>
              </a:rPr>
              <a:t>80.6%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B331D-E979-468A-BFD5-C19E7529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01C36"/>
                </a:solidFill>
                <a:latin typeface="Tahoma"/>
                <a:ea typeface="Tahoma"/>
                <a:cs typeface="Tahoma"/>
              </a:rPr>
              <a:t>527 تصویر از 654 تصویر آزمون Eigen</a:t>
            </a:r>
          </a:p>
          <a:p xmlns:a="http://schemas.openxmlformats.org/drawingml/2006/main">
            <a:pPr algn="l">
              <a:defRPr sz="1500" b="0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در مجموعهٔ آموزش قدیمی دیده شده بود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CCC8D-674D-4137-8A51-BE375189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KITTI zero-shot | AbsRel کمتر بهتر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C61C6-4D56-4996-9A4C-94157834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DA2 پایه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26CBF-7563-47EB-97C6-1E4AEF23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47925"/>
            <a:ext cx="806788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50DE1-9C2A-4C63-9086-24238A2F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523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0.0829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FB507-DC15-4123-B308-88E83886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480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پیشنهادی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A929A-882B-49C0-B704-5F187DF5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67075"/>
            <a:ext cx="2081689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07CC7-0492-4E95-8BD8-3AA4E857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48025"/>
            <a:ext cx="523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0.2139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C062B-36C6-411A-AFAA-A44537AF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6717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کنترل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5B323-6697-427E-8E83-BF2B9A22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86225"/>
            <a:ext cx="2074876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80C7F-7B87-4920-A597-3046CA8A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67175"/>
            <a:ext cx="5238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0.2132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935A7-6903-4D72-8AF6-9716AD4B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05375"/>
            <a:ext cx="1000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E0B26-A67A-4B93-85EA-612FD8BF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48250"/>
            <a:ext cx="965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تصمیم: split نشت‌ناپذیر + پروتکل کنترل‌شده. نتیجهٔ منفی zero-shot به‌عنوان شکست تعمیم ثبت شد، نه پنهان.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7952EE-1BAD-4776-8DC4-AD707ADE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منبع: بخش ۴.۵.۱ و گزارش بازسازی پروتکل NYU/KITTI</a:t>
            </a:r>
          </a:p>
        </p:txBody>
      </p:sp>
    </p:spTree>
    <p:extLst>
      <p:ext uri="{BB962C8B-B14F-4D97-AF65-F5344CB8AC3E}">
        <p14:creationId xmlns:p14="http://schemas.microsoft.com/office/powerpoint/2010/main" val="17097069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00F0E6-4732-4650-8BD9-54C67AAA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6">
            <a:extLst xmlns:a="http://schemas.openxmlformats.org/drawingml/2006/main">
              <a:ext uri="{FF2B5EF4-FFF2-40B4-BE49-F238E27FC236}">
                <a16:creationId xmlns:a16="http://schemas.microsoft.com/office/drawing/2014/main" id="{60930095-63FC-4BDC-940E-85AE16C4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6">
            <a:extLst xmlns:a="http://schemas.openxmlformats.org/drawingml/2006/main">
              <a:ext uri="{FF2B5EF4-FFF2-40B4-BE49-F238E27FC236}">
                <a16:creationId xmlns:a16="http://schemas.microsoft.com/office/drawing/2014/main" id="{8B1ED98F-1434-48BD-BEEF-820FEFC9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شکست دوم و تحلیل ریشه‌ای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E5E33-2E13-41FB-BC43-3079BEC0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10960-2F87-4FA8-83AF-92242448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8CC7D-FB69-43D1-91A6-299DA899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E4F2E-B570-4C85-B12E-71C6B3F9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فروپاشی ViT-L از نرخ یادگیری نبود؛ قرارداد depth/disparity شکسته بود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5F039-C2A6-414B-89E7-DED16DCF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F4757-A729-47FB-9233-E85D8038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95D4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B95D4B"/>
                </a:solidFill>
                <a:latin typeface="Tahoma"/>
                <a:ea typeface="Tahoma"/>
                <a:cs typeface="Tahoma"/>
              </a:rPr>
              <a:t>نشانه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EB32E-AFED-4CA7-A14A-F18DCE85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66900"/>
            <a:ext cx="676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خروجی صفر و AbsRel≈1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F036A-607E-4929-90D1-C4EE00AE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E9C10-BBC2-4EEF-B630-F9E5B8E0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381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3812A"/>
                </a:solidFill>
                <a:latin typeface="Tahoma"/>
                <a:ea typeface="Tahoma"/>
                <a:cs typeface="Tahoma"/>
              </a:rPr>
              <a:t>فرضیهٔ ردشده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FCA1A-1ACA-43D1-B0BA-97B4661F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09850"/>
            <a:ext cx="676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کاهش head LR و warmup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3E776-1FB7-4BD7-AF2B-5A74319B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DD4CA-9A2D-454F-A679-11704EC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علت واقعی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10D1C-523D-4C44-A010-C3FA86EB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52800"/>
            <a:ext cx="676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خروجی pretrained = disparity؛ هدف آموزش = depth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75BE3-AC1D-4286-AE92-A7A6DED0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9693B0-C28F-41F5-8C40-E3B03C9C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95D4B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B95D4B"/>
                </a:solidFill>
                <a:latin typeface="Tahoma"/>
                <a:ea typeface="Tahoma"/>
                <a:cs typeface="Tahoma"/>
              </a:rPr>
              <a:t>مکانیسم شکست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1F6C9-CBF9-449C-AEBF-B87E6B21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676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ReLU + clamp → گرادیان مرده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F4752-4EEE-46FD-807E-6A0E07DE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FD120-BE9C-4BE8-8586-9320DC14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اصلاح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78B0A-B10C-4569-9713-2CAC86B8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38700"/>
            <a:ext cx="676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target=1/depth + validation هم‌معنا + metadata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517D8-F3BD-414C-B28B-F54CBE0E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72125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درس مهندسی: قبل از tuning، معنای خروجی و هدف را در مرزهای pipeline کنترل کنید.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6D572-4423-44D4-8483-9C4D2D22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منبع: خروجی metadata، کد train/validation و بخش اصلاح ViT-L</a:t>
            </a:r>
          </a:p>
        </p:txBody>
      </p:sp>
    </p:spTree>
    <p:extLst>
      <p:ext uri="{BB962C8B-B14F-4D97-AF65-F5344CB8AC3E}">
        <p14:creationId xmlns:p14="http://schemas.microsoft.com/office/powerpoint/2010/main" val="9452024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E45E15-02C7-427E-ACF7-FCFAD57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7">
            <a:extLst xmlns:a="http://schemas.openxmlformats.org/drawingml/2006/main">
              <a:ext uri="{FF2B5EF4-FFF2-40B4-BE49-F238E27FC236}">
                <a16:creationId xmlns:a16="http://schemas.microsoft.com/office/drawing/2014/main" id="{D84B0FAA-6E15-4B94-9A03-5D2A5284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7">
            <a:extLst xmlns:a="http://schemas.openxmlformats.org/drawingml/2006/main">
              <a:ext uri="{FF2B5EF4-FFF2-40B4-BE49-F238E27FC236}">
                <a16:creationId xmlns:a16="http://schemas.microsoft.com/office/drawing/2014/main" id="{45DB2A30-698E-44E3-9F6B-890B0A0E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طراحی آزمایش منصفانه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C8A79-B686-4665-A58F-DE0875F2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9D98E-C06D-4C5C-9A69-E7F0F025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269FE-8E6C-4D3E-9526-78083E09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53376-B969-40AF-B269-93FDEC65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تنها تفاوت دو بازو، دسترسی به K بود؛ بقیهٔ شرایط عمداً یکسان ماند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5E977-7D4F-43C7-B442-2D41C33A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EEBC3-C7CD-4A92-A5BE-35A19B32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52625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71C92-21F2-492C-AEFD-141E2A8F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بازوی پیشنهادی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C6848-1AC6-4D87-A0D4-CA5BC69D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بازوی کنترل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F459E-0EA8-4EB7-8BF0-AC7B66C4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RGB + K صحیح</a:t>
            </a:r>
          </a:p>
          <a:p xmlns:a="http://schemas.openxmlformats.org/drawingml/2006/main">
            <a:pPr algn="r">
              <a:defRPr sz="15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camera token فعال</a:t>
            </a:r>
          </a:p>
          <a:p xmlns:a="http://schemas.openxmlformats.org/drawingml/2006/main">
            <a:pPr algn="r">
              <a:defRPr sz="15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همان initialization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4FA01-9B03-4DA8-82A5-48349DF6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RGB + K مرجع/ثابت</a:t>
            </a:r>
          </a:p>
          <a:p xmlns:a="http://schemas.openxmlformats.org/drawingml/2006/main">
            <a:pPr algn="r">
              <a:defRPr sz="15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اطلاعات دوربین حذف‌شده</a:t>
            </a:r>
          </a:p>
          <a:p xmlns:a="http://schemas.openxmlformats.org/drawingml/2006/main">
            <a:pPr algn="r">
              <a:defRPr sz="15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همان initialization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E5BDF-6400-482C-A5AE-A74AFE51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197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5EB0F-5DDE-47C1-9B60-7F1773DA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768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seed=42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1FED1-447E-41A5-9A90-299778FF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197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07AB1-0291-4C42-8409-3060315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2768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ترتیب minibatch یکسان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0B8E9-D954-4EE8-A6BB-9E3D1C0E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197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979A0-5F1B-4650-BD9A-7B8AB0AC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768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augmentation و mask یکسان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4DF5D-FB0B-4E60-97D4-A3848395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197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76EC0-FA10-48F6-A6F3-BFE8B88D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768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optimizer و budget یکسان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47F3A-9C2F-4CCE-8E83-C179B922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8575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ABFDA-4096-4AE2-BF7D-C73BBAD7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45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3812A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C3812A"/>
                </a:solidFill>
                <a:latin typeface="Tahoma"/>
                <a:ea typeface="Tahoma"/>
                <a:cs typeface="Tahoma"/>
              </a:rPr>
              <a:t>یک تفاوت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1DEFD-76DB-4266-A7FB-890D9D68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پروتکل matched-arm؛ محدودیت: فعلاً یک seed آموزشی برای هر بازو</a:t>
            </a:r>
          </a:p>
        </p:txBody>
      </p:sp>
    </p:spTree>
    <p:extLst>
      <p:ext uri="{BB962C8B-B14F-4D97-AF65-F5344CB8AC3E}">
        <p14:creationId xmlns:p14="http://schemas.microsoft.com/office/powerpoint/2010/main" val="7587345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AE20D-873E-4015-9805-F7D5B9D3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8">
            <a:extLst xmlns:a="http://schemas.openxmlformats.org/drawingml/2006/main">
              <a:ext uri="{FF2B5EF4-FFF2-40B4-BE49-F238E27FC236}">
                <a16:creationId xmlns:a16="http://schemas.microsoft.com/office/drawing/2014/main" id="{D8FF8027-A096-489E-946F-389FFCF3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8">
            <a:extLst xmlns:a="http://schemas.openxmlformats.org/drawingml/2006/main">
              <a:ext uri="{FF2B5EF4-FFF2-40B4-BE49-F238E27FC236}">
                <a16:creationId xmlns:a16="http://schemas.microsoft.com/office/drawing/2014/main" id="{21A2D98D-FC91-4077-AA68-372D3391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انباشت شواهد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17DC8-9784-403D-9156-C6DC8550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3D60E-EB0D-4870-B888-452B458A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DF4EB-F50D-4595-A55F-4DFE746B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C560E-7F71-4F5E-B884-68251A8D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هر آزمایش یک ابهام قبلی را حذف کرد و ادعا را باریک‌تر اما قوی‌تر ساخت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C6CC7-4DCC-444D-9445-60AB6F61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E4989-9D99-4E65-B3F2-1AC8F673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43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E2220-112E-495F-B5EE-90092BFF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relative ViT-L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696E5-4D34-4EF1-ABDE-1A4907E3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بهبود خام؛ اثر K تقریباً tie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65869-F653-4B34-90E9-6E1E8D32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5D4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B95D4B"/>
                </a:solidFill>
                <a:latin typeface="Tahoma"/>
                <a:ea typeface="Tahoma"/>
                <a:cs typeface="Tahoma"/>
              </a:rPr>
              <a:t>0.0377 vs 0.0378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E37FD-EA7E-4B75-90B0-230A0E17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3857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BE816-8B42-431F-AC54-FAEC267B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52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DA11F-D527-485C-B109-995433D9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6710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metric zoom-crop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31BA5-E6BD-4275-8B62-3046CF06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005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شکاف RMSE رشد کرد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C1FB8-59FF-4E2C-B8BE-355DA787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8387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3812A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3812A"/>
                </a:solidFill>
                <a:latin typeface="Tahoma"/>
                <a:ea typeface="Tahoma"/>
                <a:cs typeface="Tahoma"/>
              </a:rPr>
              <a:t>0.00545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371CE-2A27-477F-98D2-8FCA77DF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4802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DB03F7-FC38-4522-A493-E8AC4999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62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49BF0-BF7E-4E4F-8D69-E8769F0A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7655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focal jitter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A90E5-E05B-44E1-B812-52FE4792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۵ معیار Holm-significant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2C1C2-AD24-460C-B08F-7B50DF0C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481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17.6% AbsRel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C003D-961B-4A73-B0F3-EE1DC3E4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5747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B4AEF-91C9-474B-8356-9063422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17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C85F54-8C62-4694-8344-ECB97BF6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8600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ablation λ=0.5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C79EB-8391-4704-8D3A-7A07F9CC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194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jitter عامل اصلی است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C29D1-141C-4D36-AE26-52A1AEF1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6576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slope=0.97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B7FAA-DFF0-4EAA-806C-C1208F1F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6692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948BDB-3F4B-411F-9D3D-CE9CE161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181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2A72B4-7962-4471-865D-A20CCC87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95450"/>
            <a:ext cx="1857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knockout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338821-11AF-4B77-B42F-E12107E4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حذف K خروجی را خراب کرد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6805E-9B9A-4B67-A0C4-DDBFB25B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+59% AbsRel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9FAB27-F47F-440E-9A69-1DE084B9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منبع: بخش‌های ۴.۵.۵ تا ۴.۵.۷ و گزارش‌های اعتبارسنجی تازه</a:t>
            </a:r>
          </a:p>
        </p:txBody>
      </p:sp>
    </p:spTree>
    <p:extLst>
      <p:ext uri="{BB962C8B-B14F-4D97-AF65-F5344CB8AC3E}">
        <p14:creationId xmlns:p14="http://schemas.microsoft.com/office/powerpoint/2010/main" val="20892464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99A82-ED4A-4311-979C-904FB79C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9">
            <a:extLst xmlns:a="http://schemas.openxmlformats.org/drawingml/2006/main">
              <a:ext uri="{FF2B5EF4-FFF2-40B4-BE49-F238E27FC236}">
                <a16:creationId xmlns:a16="http://schemas.microsoft.com/office/drawing/2014/main" id="{DCF51498-0FA1-417F-B2B1-74E12463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9">
            <a:extLst xmlns:a="http://schemas.openxmlformats.org/drawingml/2006/main">
              <a:ext uri="{FF2B5EF4-FFF2-40B4-BE49-F238E27FC236}">
                <a16:creationId xmlns:a16="http://schemas.microsoft.com/office/drawing/2014/main" id="{308A60EE-C3A5-4E09-9766-7B1D4982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نتیجهٔ اصلی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831EC-21EA-43CF-9566-04BB7E4D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DC8F6-6D7C-41C6-B52D-C71D9738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7DAF0-6D03-464E-8356-56A86C07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96504-F2B9-498B-BBF1-4D540183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focal jitter در هر پنج معیار بهتر بود و تصحیح Holm را نیز پشت سر گذاشت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DC4A1-24ED-435E-B893-416DD41D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573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پیشنهادی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AE4F3-76EB-4156-95D3-1BD7D25B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573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کنترل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B3EA1-BEAA-4EEB-9693-AF813FBC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AbsRel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2A543-9922-4FA7-98DD-5FB64D59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09800"/>
            <a:ext cx="19612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36C98-652D-4A55-973A-33A0CAAA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8ED21-2AA4-493A-BCCA-D90B8408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0.0849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C2424-39BC-422C-9030-C5F98E13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479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0.1030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CAE67-468E-40D0-ABE0-AFC126E8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17.64%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88490-E651-4AE6-A183-43786B89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24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کاهش خطا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495CE-E0FF-4F1E-85BD-D617E8D2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RMSE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D15AE-0FCE-4EA4-AF64-776A0D06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33700"/>
            <a:ext cx="213092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DBB71-A57B-4F55-90A7-63A5475C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622D9-FC03-4950-91F8-0A1AEFD9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0.3071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447E1-C8B0-4442-954F-76030C94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0.3431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65C78-4AE1-42E2-9E88-7A2A6DDF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10.51%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16D45-83E2-405B-A4BA-73C8762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کاهش خطا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5B4EE-AE79-4894-A93D-F1D24B67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385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δ1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AA2C8-CC09-44B3-AF3F-E4628CEF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57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C22B09-1867-4F47-905D-B91129C8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14775"/>
            <a:ext cx="230761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5D9EC8-57D4-41D7-B0BB-D9FC1FCF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0.9520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501CD-CE29-4184-BB13-5DDB448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0.9226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237048-32FC-465B-88DF-78AD5E00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3.19%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2DD721-07BF-4A6A-8C8E-4EF0DA9E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افزایش دقت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4A562-E890-4553-9B3B-27924E15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624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SILog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87BD6-AACE-4FAF-B6E9-48C3E657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81500"/>
            <a:ext cx="214771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C2C574-716E-4274-99F8-555E204E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386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140AE3-6B4C-42E2-B395-CFC71CCE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0.0942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B379C7-90D3-48A2-A890-46BC3683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0.1045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D3A477-FAD0-4AED-B592-B206E8BB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9.81%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4C9A0F-256E-44EA-9BDA-88903418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958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کاهش خطا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EA7DD8-1719-4E60-AAC6-C6917251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8635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log10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3F948D-6063-4B74-B99D-839C72A5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05400"/>
            <a:ext cx="202108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FB63B3-CCE8-4091-AD2B-EBCBBBD1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6257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040E87-9DB6-4577-86E1-CFDCE3FB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86350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0.0363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247B6E-2CD7-4FE5-B82E-E240C6EF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435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0.0427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981A82-A93C-426E-9089-7566E0C6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15.13%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0A8319-D696-4A71-B6B0-384D823E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19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کاهش خطا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D5C243-9FFE-4BDB-8515-773711E9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0BEF34-4796-4434-99AC-3C6C8546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81675"/>
            <a:ext cx="441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همهٔ تفاوت‌ها پس از تصحیح Holm معنادارند.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85A6E1-8A20-4BF7-A1AD-8FF7E596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ارزیابی نهایی focal jitter؛ اعداد دقیق در سند جامع و گزارش validation</a:t>
            </a:r>
          </a:p>
        </p:txBody>
      </p:sp>
    </p:spTree>
    <p:extLst>
      <p:ext uri="{BB962C8B-B14F-4D97-AF65-F5344CB8AC3E}">
        <p14:creationId xmlns:p14="http://schemas.microsoft.com/office/powerpoint/2010/main" val="6632683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8083A-03C3-4973-810D-BC973639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0">
            <a:extLst xmlns:a="http://schemas.openxmlformats.org/drawingml/2006/main">
              <a:ext uri="{FF2B5EF4-FFF2-40B4-BE49-F238E27FC236}">
                <a16:creationId xmlns:a16="http://schemas.microsoft.com/office/drawing/2014/main" id="{1A2A5699-2312-48ED-9115-9D5EF680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0">
            <a:extLst xmlns:a="http://schemas.openxmlformats.org/drawingml/2006/main">
              <a:ext uri="{FF2B5EF4-FFF2-40B4-BE49-F238E27FC236}">
                <a16:creationId xmlns:a16="http://schemas.microsoft.com/office/drawing/2014/main" id="{D0663377-BE87-4D7C-A83D-9E92B04F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آزمون پاسخ به 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E7478-3763-4ABC-8E65-451D4772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2F776-A988-42F0-AE88-A728D562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F359F-0710-4C3F-8CC3-5C4864D8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4E1BD-5220-4EFC-B583-71CCEC44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پس از focal jitter، پاسخ مدل به تغییر K تقریباً با شیب ایده‌آل حرکت کرد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15BF6-320C-4E20-87D6-84225994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شیب ایده‌آل = 1.00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AF4B2-547E-4998-BC07-4EEEB5A4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8D0E2-A61C-4F1B-886F-3D6E77C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764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79261-A96C-4E82-975E-DB754B10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483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0.00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80E1C-3D7D-40AF-AFA6-7B649FCA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6723-E574-4640-A423-5F4721B9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483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164CD-AEC3-459F-B53B-3A4863B9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936B9-64BC-498C-B3C9-0F1FCD21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483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0.50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D70CA-8817-40A3-BE8B-87164877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BC422-FE39-49AA-BD54-56C8E487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483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0.75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C3263-5ACF-427F-AEBF-4C555C4D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7645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B589A-B022-4FB0-BB35-00761002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4483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1.00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F209C-F3A4-4FC4-B7B9-72150ADF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کنترل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11BD8-63C5-458C-BB2D-59FEA931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1460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02EE0-CD21-4EE2-9B62-1B627616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14600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0.00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55DC9-6544-4A7B-AAE0-626193C5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metric round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89049-C4BE-44F8-8E9A-EEF579CA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0400"/>
            <a:ext cx="50292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57F02-2135-498B-B65A-F7BD6EF4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381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3812A"/>
                </a:solidFill>
                <a:latin typeface="Tahoma"/>
                <a:ea typeface="Tahoma"/>
                <a:cs typeface="Tahoma"/>
              </a:rPr>
              <a:t>0.06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14C31-422E-4F80-B1DE-CAE78732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099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focal jitter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B0805-D8FB-48C1-8796-1548D6A9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86200"/>
            <a:ext cx="779526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26538F-DEC2-4275-857E-0B7480E2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0.93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C6100A-2B15-4C4A-A49B-E3C88230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957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ablation λ=0.5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7436B-9093-4EDA-B594-1139DAB5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813054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A5E04-4BA0-4E43-A551-3A15DBEA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0.97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286C42-B4D1-4107-999C-593E7526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00250"/>
            <a:ext cx="285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01951D-FA49-4DE2-ACE9-D15FFF2A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809750"/>
            <a:ext cx="428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101C36"/>
                </a:solidFill>
                <a:latin typeface="Tahoma"/>
                <a:ea typeface="Tahoma"/>
                <a:cs typeface="Tahoma"/>
              </a:rPr>
              <a:t>1.0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B79C83-C584-4CA3-BABE-AD6B0796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43575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87E5DF-B1AB-453B-A389-011D1EED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86450"/>
            <a:ext cx="6991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تعبیر: شبکه فقط از K سود نبرده؛ رابطهٔ تغییر K با مقیاس خروجی را آموخته است.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929D13-A23B-4467-97A0-E1E7B870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K-sweep: slope ± CI در گزارش‌های بخش ۴.۵.۶ و ۴.۵.۷</a:t>
            </a:r>
          </a:p>
        </p:txBody>
      </p:sp>
    </p:spTree>
    <p:extLst>
      <p:ext uri="{BB962C8B-B14F-4D97-AF65-F5344CB8AC3E}">
        <p14:creationId xmlns:p14="http://schemas.microsoft.com/office/powerpoint/2010/main" val="10855826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8F0A5-FB0A-4019-9DE9-CB01F134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1">
            <a:extLst xmlns:a="http://schemas.openxmlformats.org/drawingml/2006/main">
              <a:ext uri="{FF2B5EF4-FFF2-40B4-BE49-F238E27FC236}">
                <a16:creationId xmlns:a16="http://schemas.microsoft.com/office/drawing/2014/main" id="{F6DC3958-4DF2-4482-8C45-7F5D47B8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1">
            <a:extLst xmlns:a="http://schemas.openxmlformats.org/drawingml/2006/main">
              <a:ext uri="{FF2B5EF4-FFF2-40B4-BE49-F238E27FC236}">
                <a16:creationId xmlns:a16="http://schemas.microsoft.com/office/drawing/2014/main" id="{72CD0940-DBB5-48BC-90EC-977A9E4E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آزمون ضرورت 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37EFD-B82A-452D-8A3F-B716045C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5AE59-03EE-4CA6-BA58-6EBA3E8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D226B-4C45-425F-A5E4-B688F5F0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3D8BE-4A9D-4F9A-BD74-669D406F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وقتی K صحیح حذف یا عمداً خراب شد، خطا به‌شدت افزایش یافت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13DFF-05CE-4C0B-93C8-04E4C9F6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AbsRel — کمتر بهتر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E7291-C852-4EC1-BE0B-51C601F0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K صحیح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53241-8DA5-4E81-A10B-1831D4F0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95525"/>
            <a:ext cx="136906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C23BC-B826-4C6F-AE1A-0B19E56B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14575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0.0924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04B84-9538-45DE-A930-E76F308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K حذف‌شده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F9B97-A2D5-474C-8F65-A651848E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76575"/>
            <a:ext cx="217360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73849-DB30-4F5D-833F-52175FAB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5625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812A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C3812A"/>
                </a:solidFill>
                <a:latin typeface="Tahoma"/>
                <a:ea typeface="Tahoma"/>
                <a:cs typeface="Tahoma"/>
              </a:rPr>
              <a:t>0.1467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A5E88-79B5-4169-AFE0-499EB441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48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f × 0.7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46E52-012F-47D7-AB19-ACC79DF2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57625"/>
            <a:ext cx="4277572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606FB-4070-449D-AD46-67160EE9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6675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4B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B95D4B"/>
                </a:solidFill>
                <a:latin typeface="Tahoma"/>
                <a:ea typeface="Tahoma"/>
                <a:cs typeface="Tahoma"/>
              </a:rPr>
              <a:t>0.2887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D2EBE-14E9-4786-8DF2-8634F51E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291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f × 1.4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FA572-D3F8-495B-AC1B-F9AAEBB7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38675"/>
            <a:ext cx="633264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7990C-E01C-4F09-81FA-F9483509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57725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0.4274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8A2F6-AC6E-4B25-9D10-99CF6D89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190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3812A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C3812A"/>
                </a:solidFill>
                <a:latin typeface="Tahoma"/>
                <a:ea typeface="Tahoma"/>
                <a:cs typeface="Tahoma"/>
              </a:rPr>
              <a:t>+59%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9E4EB-2C7A-40C9-BB83-E0C1A0F1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34F3A-87DE-4775-AE7F-99389EB7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15000"/>
            <a:ext cx="7467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این آزمون، وابستگی عملکردی مدل به K را مستقیم‌تر از مقایسهٔ سادهٔ دو مدل نشان می‌دهد.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4A7CB-5BCE-4B37-9D06-3D0E46C8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knockout / wrong-K؛ اعداد کامل RMSE و δ1 در سند جامع</a:t>
            </a:r>
          </a:p>
        </p:txBody>
      </p:sp>
    </p:spTree>
    <p:extLst>
      <p:ext uri="{BB962C8B-B14F-4D97-AF65-F5344CB8AC3E}">
        <p14:creationId xmlns:p14="http://schemas.microsoft.com/office/powerpoint/2010/main" val="20039360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2938E6-0ED2-4CD7-B99D-AE690BF5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2">
            <a:extLst xmlns:a="http://schemas.openxmlformats.org/drawingml/2006/main">
              <a:ext uri="{FF2B5EF4-FFF2-40B4-BE49-F238E27FC236}">
                <a16:creationId xmlns:a16="http://schemas.microsoft.com/office/drawing/2014/main" id="{6C6F139F-D5EB-44CC-81BC-7AE449A7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2">
            <a:extLst xmlns:a="http://schemas.openxmlformats.org/drawingml/2006/main">
              <a:ext uri="{FF2B5EF4-FFF2-40B4-BE49-F238E27FC236}">
                <a16:creationId xmlns:a16="http://schemas.microsoft.com/office/drawing/2014/main" id="{354E7C36-465F-4BDD-9A28-F889538E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جمع‌بندی علمی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0CB95-38DA-4370-A0AA-386E8B4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826FD-A499-4E2C-8787-D2F9A23F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D7FD8-F9E0-4206-8FBB-3385618E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08095-DAD9-460C-BC93-1F870E6D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دستاورد اصلی، یک زنجیرهٔ شواهد کنترل‌شده است—با مرزهای ادعای روشن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F0B9B-9499-42C9-96EC-157AA2D0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51911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A76AC-436E-43A0-BB9F-756192C2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1911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BEF9D-6B65-4981-A9DA-B899D7C2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آنچه می‌توان دفاع کرد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2092A-3E2D-4E8B-867A-38F7FCEC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• معماری آگاه از K با camera token</a:t>
            </a:r>
          </a:p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• zoom-crop هندسیِ دقیق</a:t>
            </a:r>
          </a:p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• focal jitter فیزیکی و matched-arm</a:t>
            </a:r>
          </a:p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• بهبود معنادار در ۵ معیار</a:t>
            </a:r>
          </a:p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• K-sweep و knockout به‌عنوان شواهد استفاده از 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EA058-F58D-4EF3-BDEA-81BC2E97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B95D4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B95D4B"/>
                </a:solidFill>
                <a:latin typeface="Tahoma"/>
                <a:ea typeface="Tahoma"/>
                <a:cs typeface="Tahoma"/>
              </a:rPr>
              <a:t>آنچه هنوز نباید بیش‌ازحد ادعا شود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58186-F2F7-4F9D-B04E-AE2AE522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476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• تنها یک seed آموزشی در هر بازو</a:t>
            </a:r>
          </a:p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• آزمون‌های image-level جای variance آموزش را نمی‌گیرند</a:t>
            </a:r>
          </a:p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• Middlebury آزمون علّی focal نیست</a:t>
            </a:r>
          </a:p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• fine-tuning نهایی supervised است</a:t>
            </a:r>
          </a:p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• تعمیم بین‌دامنه‌ای هنوز حل نشده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BD5A4-3B6C-41B3-AA7B-CEE76363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72125"/>
            <a:ext cx="542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9FF47-4053-4C49-AE21-22403F1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715000"/>
            <a:ext cx="5086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ادعای دقیق‌تر، دفاع قوی‌تر می‌سازد.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7EADD-8403-4943-B536-808EB9D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جمع‌بندی بخش ۵ + محدودیت‌های اعتبار آماری و دامنهٔ تعمیم</a:t>
            </a:r>
          </a:p>
        </p:txBody>
      </p:sp>
    </p:spTree>
    <p:extLst>
      <p:ext uri="{BB962C8B-B14F-4D97-AF65-F5344CB8AC3E}">
        <p14:creationId xmlns:p14="http://schemas.microsoft.com/office/powerpoint/2010/main" val="5245317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21759C-4B4F-4490-9479-56F30561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-13">
            <a:extLst xmlns:a="http://schemas.openxmlformats.org/drawingml/2006/main">
              <a:ext uri="{FF2B5EF4-FFF2-40B4-BE49-F238E27FC236}">
                <a16:creationId xmlns:a16="http://schemas.microsoft.com/office/drawing/2014/main" id="{A490EE34-AA1F-46F5-A2E2-E519C19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-13">
            <a:extLst xmlns:a="http://schemas.openxmlformats.org/drawingml/2006/main">
              <a:ext uri="{FF2B5EF4-FFF2-40B4-BE49-F238E27FC236}">
                <a16:creationId xmlns:a16="http://schemas.microsoft.com/office/drawing/2014/main" id="{5175A06B-5E75-4F1A-BFF8-3B6C78BD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آمادگی دفاع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6D154-8135-4E45-B4AF-13B63378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F37F7-70FD-4B8D-B635-0EEC8546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پژوهش نقش پارامترهای درونی دوربین در برآورد عمق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28859-EDF4-4A53-8D4D-306355DF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CBF6B-F156-46E0-96ED-B0F0A591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66750"/>
            <a:ext cx="8401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سه پرسش سخت استاد را با شواهد مستقیم پاسخ دهید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DCA11-0327-494A-9E6D-3E13F01C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656D8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2656D8"/>
                </a:solidFill>
                <a:latin typeface="Tahoma"/>
                <a:ea typeface="Tahoma"/>
                <a:cs typeface="Tahoma"/>
              </a:rPr>
              <a:t>چطور می‌دانید بهبود از K است؟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6D223-8EBC-45FB-A18D-89FB5182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621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98426-9774-4A88-B443-C8F34FB0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matched arms + ablation + K-sweep + knockout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D75D3-A9EE-41F9-8AFD-2919C14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289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C3812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C3812A"/>
                </a:solidFill>
                <a:latin typeface="Tahoma"/>
                <a:ea typeface="Tahoma"/>
                <a:cs typeface="Tahoma"/>
              </a:rPr>
              <a:t>چرا نتایج relative تقریباً tie بودند؟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01143-7ACF-4224-92BB-D361E6D0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91396-CBC3-42BE-AD55-6AA80943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alignment مقیاس و K ثابت، سیگنال مقیاس را حذف می‌کرد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63155-1552-4EC3-A2D2-69CF8251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434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4C7652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4C7652"/>
                </a:solidFill>
                <a:latin typeface="Tahoma"/>
                <a:ea typeface="Tahoma"/>
                <a:cs typeface="Tahoma"/>
              </a:rPr>
              <a:t>آیا معناداری آماری کافی است؟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4B605-63EE-4B3D-9967-6D476C09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910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6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F35FF-8162-46B4-8AB8-BE5FC359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01C36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01C36"/>
                </a:solidFill>
                <a:latin typeface="Tahoma"/>
                <a:ea typeface="Tahoma"/>
                <a:cs typeface="Tahoma"/>
              </a:rPr>
              <a:t>در سطح تصویر بله؛ برای variance آموزش به چند seed نیاز است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A50B6-8EFF-4F2E-83B3-B68C5251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67375"/>
            <a:ext cx="2238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95D4B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B95D4B"/>
                </a:solidFill>
                <a:latin typeface="Tahoma"/>
                <a:ea typeface="Tahoma"/>
                <a:cs typeface="Tahoma"/>
              </a:rPr>
              <a:t>پرسش‌های پشتیبان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FB7F2-0BD0-46DA-934A-1F3B39F9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53125"/>
            <a:ext cx="9667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687083"/>
                </a:solidFill>
                <a:latin typeface="Tahoma"/>
                <a:ea typeface="Tahoma"/>
                <a:cs typeface="Tahoma"/>
              </a:rPr>
              <a:t>چرا Middlebury محدود شد؟  |  چرا zero-shot شکست خورد؟  |  گام بعدی چیست؟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54B7C-8158-44D3-879E-286724E5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57925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87083"/>
                </a:solidFill>
                <a:latin typeface="Tahoma"/>
                <a:ea typeface="Tahoma"/>
                <a:cs typeface="Tahoma"/>
              </a:defRPr>
            </a:pPr>
            <a:r>
              <a:rPr sz="675" b="0">
                <a:solidFill>
                  <a:srgbClr val="687083"/>
                </a:solidFill>
                <a:latin typeface="Tahoma"/>
                <a:ea typeface="Tahoma"/>
                <a:cs typeface="Tahoma"/>
              </a:rPr>
              <a:t>پاسخ‌های کامل و پرسش‌های بیشتر در بخش ۱۳ سند جامع</a:t>
            </a:r>
          </a:p>
        </p:txBody>
      </p:sp>
    </p:spTree>
    <p:extLst>
      <p:ext uri="{BB962C8B-B14F-4D97-AF65-F5344CB8AC3E}">
        <p14:creationId xmlns:p14="http://schemas.microsoft.com/office/powerpoint/2010/main" val="1454315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2026-08-13T13:31:57.6790000Z</dcterms:created>
  <dcterms:modified xsi:type="dcterms:W3CDTF">2026-08-13T13:31:57.6790000Z</dcterms:modified>
</coreProperties>
</file>