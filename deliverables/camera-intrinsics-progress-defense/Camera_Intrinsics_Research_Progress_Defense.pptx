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2a53e5ffad411d" /><Relationship Type="http://schemas.openxmlformats.org/officeDocument/2006/relationships/extended-properties" Target="/docProps/app.xml" Id="R45884178067e43eb" /><Relationship Type="http://schemas.openxmlformats.org/officeDocument/2006/relationships/officeDocument" Target="/ppt/presentation.xml" Id="R43891de1cefa4e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6bd2d5f17c4b6b"/>
  </p:sldMasterIdLst>
  <p:notesMasterIdLst>
    <p:notesMasterId xmlns:r="http://schemas.openxmlformats.org/officeDocument/2006/relationships" r:id="R782a6b6850d44190"/>
  </p:notesMasterIdLst>
  <p:sldIdLst>
    <p:sldId xmlns:r="http://schemas.openxmlformats.org/officeDocument/2006/relationships" id="256" r:id="Rc68e03aef60c4db8"/>
    <p:sldId xmlns:r="http://schemas.openxmlformats.org/officeDocument/2006/relationships" id="257" r:id="R332c2b70c1c543cb"/>
    <p:sldId xmlns:r="http://schemas.openxmlformats.org/officeDocument/2006/relationships" id="258" r:id="R62accb5992684a4f"/>
    <p:sldId xmlns:r="http://schemas.openxmlformats.org/officeDocument/2006/relationships" id="259" r:id="R85ec7fa55ed74f4e"/>
    <p:sldId xmlns:r="http://schemas.openxmlformats.org/officeDocument/2006/relationships" id="260" r:id="Rc919b639048d44c7"/>
    <p:sldId xmlns:r="http://schemas.openxmlformats.org/officeDocument/2006/relationships" id="261" r:id="R2f12d61b74834957"/>
    <p:sldId xmlns:r="http://schemas.openxmlformats.org/officeDocument/2006/relationships" id="262" r:id="Rb441393c78484653"/>
    <p:sldId xmlns:r="http://schemas.openxmlformats.org/officeDocument/2006/relationships" id="263" r:id="R13f4682629c141ce"/>
    <p:sldId xmlns:r="http://schemas.openxmlformats.org/officeDocument/2006/relationships" id="264" r:id="Rb9a8be0977ec4fe8"/>
    <p:sldId xmlns:r="http://schemas.openxmlformats.org/officeDocument/2006/relationships" id="265" r:id="R14b63ab3c4904d7b"/>
    <p:sldId xmlns:r="http://schemas.openxmlformats.org/officeDocument/2006/relationships" id="266" r:id="R144ba5d4476a4a9f"/>
    <p:sldId xmlns:r="http://schemas.openxmlformats.org/officeDocument/2006/relationships" id="267" r:id="R1e88f37b546f4e4f"/>
    <p:sldId xmlns:r="http://schemas.openxmlformats.org/officeDocument/2006/relationships" id="268" r:id="R36d2492b2d0c4b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bd2d5f17c4b6b" /><Relationship Type="http://schemas.openxmlformats.org/officeDocument/2006/relationships/theme" Target="/ppt/theme/theme1.xml" Id="Rb6eab47040f6416c" /><Relationship Type="http://schemas.openxmlformats.org/officeDocument/2006/relationships/notesMaster" Target="/ppt/notesMasters/notesMaster1.xml" Id="R782a6b6850d44190" /><Relationship Type="http://schemas.openxmlformats.org/officeDocument/2006/relationships/presProps" Target="/ppt/presProps.xml" Id="R63728fe6428e4a45" /><Relationship Type="http://schemas.openxmlformats.org/officeDocument/2006/relationships/viewProps" Target="/ppt/viewProps.xml" Id="Rde4567203d204720" /><Relationship Type="http://schemas.openxmlformats.org/officeDocument/2006/relationships/tableStyles" Target="/ppt/tableStyles.xml" Id="Rfac466af73e34ba0" /><Relationship Type="http://schemas.openxmlformats.org/officeDocument/2006/relationships/slide" Target="/ppt/slides/slide1.xml" Id="Rc68e03aef60c4db8" /><Relationship Type="http://schemas.openxmlformats.org/officeDocument/2006/relationships/slide" Target="/ppt/slides/slide2.xml" Id="R332c2b70c1c543cb" /><Relationship Type="http://schemas.openxmlformats.org/officeDocument/2006/relationships/slide" Target="/ppt/slides/slide3.xml" Id="R62accb5992684a4f" /><Relationship Type="http://schemas.openxmlformats.org/officeDocument/2006/relationships/slide" Target="/ppt/slides/slide4.xml" Id="R85ec7fa55ed74f4e" /><Relationship Type="http://schemas.openxmlformats.org/officeDocument/2006/relationships/slide" Target="/ppt/slides/slide5.xml" Id="Rc919b639048d44c7" /><Relationship Type="http://schemas.openxmlformats.org/officeDocument/2006/relationships/slide" Target="/ppt/slides/slide6.xml" Id="R2f12d61b74834957" /><Relationship Type="http://schemas.openxmlformats.org/officeDocument/2006/relationships/slide" Target="/ppt/slides/slide7.xml" Id="Rb441393c78484653" /><Relationship Type="http://schemas.openxmlformats.org/officeDocument/2006/relationships/slide" Target="/ppt/slides/slide8.xml" Id="R13f4682629c141ce" /><Relationship Type="http://schemas.openxmlformats.org/officeDocument/2006/relationships/slide" Target="/ppt/slides/slide9.xml" Id="Rb9a8be0977ec4fe8" /><Relationship Type="http://schemas.openxmlformats.org/officeDocument/2006/relationships/slide" Target="/ppt/slides/slide10.xml" Id="R14b63ab3c4904d7b" /><Relationship Type="http://schemas.openxmlformats.org/officeDocument/2006/relationships/slide" Target="/ppt/slides/slide11.xml" Id="R144ba5d4476a4a9f" /><Relationship Type="http://schemas.openxmlformats.org/officeDocument/2006/relationships/slide" Target="/ppt/slides/slide12.xml" Id="R1e88f37b546f4e4f" /><Relationship Type="http://schemas.openxmlformats.org/officeDocument/2006/relationships/slide" Target="/ppt/slides/slide13.xml" Id="R36d2492b2d0c4b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e93c26b65904e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274bf5d99f4840" /><Relationship Type="http://schemas.openxmlformats.org/officeDocument/2006/relationships/notesMaster" Target="/ppt/notesMasters/notesMaster1.xml" Id="Rf722fd76746342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13ee23e02a4270" /><Relationship Type="http://schemas.openxmlformats.org/officeDocument/2006/relationships/notesMaster" Target="/ppt/notesMasters/notesMaster1.xml" Id="Rc80fefdca63541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d30d2a8c4e4fad" /><Relationship Type="http://schemas.openxmlformats.org/officeDocument/2006/relationships/notesMaster" Target="/ppt/notesMasters/notesMaster1.xml" Id="Rffa1e5040f464f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ad7b86643c4bc9" /><Relationship Type="http://schemas.openxmlformats.org/officeDocument/2006/relationships/notesMaster" Target="/ppt/notesMasters/notesMaster1.xml" Id="Rd5a935d176784d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8784ecc8b1450f" /><Relationship Type="http://schemas.openxmlformats.org/officeDocument/2006/relationships/notesMaster" Target="/ppt/notesMasters/notesMaster1.xml" Id="R41bdb80991d643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0a030ed7444c1d" /><Relationship Type="http://schemas.openxmlformats.org/officeDocument/2006/relationships/notesMaster" Target="/ppt/notesMasters/notesMaster1.xml" Id="Ra35094fc14604d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da183abf6749c9" /><Relationship Type="http://schemas.openxmlformats.org/officeDocument/2006/relationships/notesMaster" Target="/ppt/notesMasters/notesMaster1.xml" Id="R9c0ac96b7a964d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3973f1a592429c" /><Relationship Type="http://schemas.openxmlformats.org/officeDocument/2006/relationships/notesMaster" Target="/ppt/notesMasters/notesMaster1.xml" Id="R84880ea3340e41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9a81fed6364d4a" /><Relationship Type="http://schemas.openxmlformats.org/officeDocument/2006/relationships/notesMaster" Target="/ppt/notesMasters/notesMaster1.xml" Id="Rb9ef9fc017014c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db668586d14b3d" /><Relationship Type="http://schemas.openxmlformats.org/officeDocument/2006/relationships/notesMaster" Target="/ppt/notesMasters/notesMaster1.xml" Id="Rcd92d9ba986047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b5ece2cb45406f" /><Relationship Type="http://schemas.openxmlformats.org/officeDocument/2006/relationships/notesMaster" Target="/ppt/notesMasters/notesMaster1.xml" Id="Re599eacb052044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01ff6708594d34" /><Relationship Type="http://schemas.openxmlformats.org/officeDocument/2006/relationships/notesMaster" Target="/ppt/notesMasters/notesMaster1.xml" Id="Rbc6ce4875b7f4a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0c2e731a2b46de" /><Relationship Type="http://schemas.openxmlformats.org/officeDocument/2006/relationships/notesMaster" Target="/ppt/notesMasters/notesMaster1.xml" Id="R8ff36681bd3f4b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d4f50df58489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6eaca9c086442e5" /><Relationship Type="http://schemas.openxmlformats.org/officeDocument/2006/relationships/slideLayout" Target="/ppt/slideLayouts/slideLayout2.xml" Id="Rb2858bf78c7844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858bf78c7844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ba3ff482fb43a9" /><Relationship Type="http://schemas.openxmlformats.org/officeDocument/2006/relationships/notesSlide" Target="/ppt/notesSlides/notesSlide1.xml" Id="R7d2ecebeaa7d4a4f" 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661e5ec0ed4e4136"/><Relationship Type="http://schemas.openxmlformats.org/officeDocument/2006/relationships/notesSlide" Target="/ppt/notesSlides/notesSlide2.xml" Id="Re75f90a14e7e4047"/><Relationship Id="rId1" Type="http://schemas.openxmlformats.org/officeDocument/2006/relationships/hyperlink" Target="assets/little-big-ambiguty.mp4" TargetMode="External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1d5dd8e1c24bb7" /><Relationship Type="http://schemas.openxmlformats.org/officeDocument/2006/relationships/notesSlide" Target="/ppt/notesSlides/notesSlide3.xml" Id="R43ddf94779e340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7bc1531c334b9f" /><Relationship Type="http://schemas.openxmlformats.org/officeDocument/2006/relationships/notesSlide" Target="/ppt/notesSlides/notesSlide4.xml" Id="R5dcb85a0469947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c2f27cf34946fe" /><Relationship Type="http://schemas.openxmlformats.org/officeDocument/2006/relationships/notesSlide" Target="/ppt/notesSlides/notesSlide5.xml" Id="Rb6ded4f76f9441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8fd8662dc944fb" /><Relationship Type="http://schemas.openxmlformats.org/officeDocument/2006/relationships/notesSlide" Target="/ppt/notesSlides/notesSlide6.xml" Id="Re7c6efbcee0e48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b90fd3c5dd440b" /><Relationship Type="http://schemas.openxmlformats.org/officeDocument/2006/relationships/notesSlide" Target="/ppt/notesSlides/notesSlide7.xml" Id="Rad3cbb223a9640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08fc0c9e494c79" /><Relationship Type="http://schemas.openxmlformats.org/officeDocument/2006/relationships/notesSlide" Target="/ppt/notesSlides/notesSlide8.xml" Id="R624befe75f2448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cd1f8e5cd64494" /><Relationship Type="http://schemas.openxmlformats.org/officeDocument/2006/relationships/notesSlide" Target="/ppt/notesSlides/notesSlide9.xml" Id="R0fa240be796347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0d6b43a3574f05" /><Relationship Type="http://schemas.openxmlformats.org/officeDocument/2006/relationships/notesSlide" Target="/ppt/notesSlides/notesSlide10.xml" Id="Re4935c97f6564e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a77a96c3834522" /><Relationship Type="http://schemas.openxmlformats.org/officeDocument/2006/relationships/notesSlide" Target="/ppt/notesSlides/notesSlide11.xml" Id="Rf7157f1a48fb40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e182f8479442be" /><Relationship Type="http://schemas.openxmlformats.org/officeDocument/2006/relationships/notesSlide" Target="/ppt/notesSlides/notesSlide12.xml" Id="Rfdf08e0d53144c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0cd031ae894098" /><Relationship Type="http://schemas.openxmlformats.org/officeDocument/2006/relationships/notesSlide" Target="/ppt/notesSlides/notesSlide13.xml" Id="R948e03cd908d41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721CB2-BA7E-4A7A-AFB0-73E5DB56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C8D5C-0641-490E-AEAF-8BA28FF0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6C43D-B498-4E2C-9FB6-572EDB96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9DBAB-D3D4-4A1E-8EC0-E7E8F2A9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86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765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C7652"/>
                </a:solidFill>
                <a:latin typeface="Avenir Next"/>
                <a:ea typeface="Avenir Next"/>
                <a:cs typeface="Avenir Next"/>
              </a:rPr>
              <a:t>TWO-MONTH RESEARCH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1E528-A193-485F-BED7-A496785E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From an architectural idea</a:t>
            </a:r>
          </a:p>
          <a:p xmlns:a="http://schemas.openxmlformats.org/drawingml/2006/main">
            <a:pPr algn="l">
              <a:defRPr sz="36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to causal evidence for 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40E43-F6E9-4868-8A9A-39A5F51B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Experiments, failures, corrections, results, and defensible claims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75711-3CD3-4A45-A4A0-752FB6A0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715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4ADC5-D6C8-4093-BDC2-DEE6457A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103727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Main message: K becomes a useful scale signal only when the objective preserves absolute scale and the training data truly varies 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72615-5275-4F13-8F8E-1DF89687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4FA68-FAC3-46B4-95D9-416011BD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6D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2656D8"/>
                </a:solidFill>
                <a:latin typeface="Avenir Next"/>
                <a:ea typeface="Avenir Next"/>
                <a:cs typeface="Avenir Next"/>
              </a:rPr>
              <a:t>527/654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DD31D-DFE3-468F-B402-F6D19BCB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leaked test images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F6D65-C7BA-4193-9D57-6E59B886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7687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6D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2656D8"/>
                </a:solidFill>
                <a:latin typeface="Avenir Next"/>
                <a:ea typeface="Avenir Next"/>
                <a:cs typeface="Avenir Next"/>
              </a:rPr>
              <a:t>5 metrics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8F2B0-5FE3-430F-9E6A-C93C3534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9055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final improvement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28E6D-2F70-4307-8AEA-2AFF1DC6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47687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56D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2656D8"/>
                </a:solidFill>
                <a:latin typeface="Avenir Next"/>
                <a:ea typeface="Avenir Next"/>
                <a:cs typeface="Avenir Next"/>
              </a:rPr>
              <a:t>0.93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581B4-FDED-4885-9E95-75E6EC76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9055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response slope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B6516-9051-4250-B8F3-7CA6AED7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47687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5D4B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B95D4B"/>
                </a:solidFill>
                <a:latin typeface="Avenir Next"/>
                <a:ea typeface="Avenir Next"/>
                <a:cs typeface="Avenir Next"/>
              </a:rPr>
              <a:t>+59%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23679-E2A8-4CBA-85A1-DB7EED3A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9055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without correct 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E339D-6275-4351-954B-8DE0CC9E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715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Progress defense deck | August 2026</a:t>
            </a:r>
          </a:p>
        </p:txBody>
      </p:sp>
    </p:spTree>
    <p:extLst>
      <p:ext uri="{BB962C8B-B14F-4D97-AF65-F5344CB8AC3E}">
        <p14:creationId xmlns:p14="http://schemas.microsoft.com/office/powerpoint/2010/main" val="11121654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3FF7EC-0894-4F05-8019-B262D741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96CE539F-55E3-4780-9551-D08F795E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60D3AFD6-111F-4F61-B8C3-6FF78EBF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RESEARCH HYPOTHESIS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533A9-A5F3-49F4-9B62-267E8C91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56864-9E69-472E-943F-9BA36FFE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Camera-intrinsics-aware monocular depth estimation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5B378-DC46-4BD0-82D7-3D4A1814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76DFA-02F7-411E-978B-25D9AA90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K alone is not enough: scale identifiability depends on the target and camera variation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DED39-8B4F-4846-B0C7-53646273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476250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611CC-2361-43D7-904E-CA362B9D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57375"/>
            <a:ext cx="476250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C5355-CB76-4DD2-A9BD-8399205E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5D4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B95D4B"/>
                </a:solidFill>
                <a:latin typeface="Avenir Next"/>
                <a:ea typeface="Avenir Next"/>
                <a:cs typeface="Avenir Next"/>
              </a:rPr>
              <a:t>Relative depth + fixed 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60686-C330-4F60-9F79-52185040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Scale alignment during evaluation removes the absolute-scale signal. A model can ignore K and still score well.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CF5DA-204F-4006-A88E-F43409DB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D4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B95D4B"/>
                </a:solidFill>
                <a:latin typeface="Avenir Next"/>
                <a:ea typeface="Avenir Next"/>
                <a:cs typeface="Avenir Next"/>
              </a:rPr>
              <a:t>Outcome: proposed and control nearly tie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F9D5A-427C-48CD-9BF7-7FFAC348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526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C7652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C7652"/>
                </a:solidFill>
                <a:latin typeface="Avenir Next"/>
                <a:ea typeface="Avenir Next"/>
                <a:cs typeface="Avenir Next"/>
              </a:rPr>
              <a:t>Metric depth + varied 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A1D59-BFD7-41BF-A16D-32BB4CFE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8130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The target retains physical scale, while focal jitter creates a controlled geometric relation between f and Z.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0F2A11-5D6A-44D0-91D7-7984D0D1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957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765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C7652"/>
                </a:solidFill>
                <a:latin typeface="Avenir Next"/>
                <a:ea typeface="Avenir Next"/>
                <a:cs typeface="Avenir Next"/>
              </a:rPr>
              <a:t>Outcome: K becomes testable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03E8F-6775-4770-AEC4-1CC64523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48250"/>
            <a:ext cx="609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37BC8-CA38-4B9B-990D-8DE6F358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72075"/>
            <a:ext cx="575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(f, Z) → (αf, αZ)     |     RGB, cx, and cy remain fixed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200A6-AFE8-4CF0-BD74-D2D32A1D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47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Source: thesis §§3.7.7–3.7.8 and §4.5</a:t>
            </a:r>
          </a:p>
        </p:txBody>
      </p:sp>
      <p:sp>
        <p:nvSpPr>
          <p:cNvPr id="9001" name="Intrinsics ambiguity video callout"/>
          <p:cNvSpPr/>
          <p:nvPr/>
        </p:nvSpPr>
        <p:spPr>
          <ns0:xfrm xmlns:ns0="http://schemas.openxmlformats.org/drawingml/2006/main">
            <ns0:off x="600000" y="5000000"/>
            <ns0:ext cx="10800000" cy="900000"/>
          </ns0:xfrm>
          <ns1:prstGeom xmlns:ns1="http://schemas.openxmlformats.org/drawingml/2006/main" prst="roundRect"/>
          <ns2:solidFill xmlns:ns2="http://schemas.openxmlformats.org/drawingml/2006/main">
            <ns2:srgbClr val="EAF1FB"/>
          </ns2:solidFill>
          <ns3:ln xmlns:ns3="http://schemas.openxmlformats.org/drawingml/2006/main" w="12700">
            <ns3:solidFill>
              <ns3:srgbClr val="2656D8"/>
            </ns3:solidFill>
          </ns3:ln>
        </p:spPr>
        <p:txBody>
          <ns4:bodyPr xmlns:ns4="http://schemas.openxmlformats.org/drawingml/2006/main" lIns="180000" rIns="180000" tIns="90000" bIns="90000" anchor="ctr"/>
          <ns5:lstStyle xmlns:ns5="http://schemas.openxmlformats.org/drawingml/2006/main"/>
          <ns6:p xmlns:ns6="http://schemas.openxmlformats.org/drawingml/2006/main">
            <ns6:pPr algn="l">
              <ns6:defRPr sz="1550" b="1"/>
            </ns6:pPr>
            <ns6:r>
              <ns6:rPr sz="1550" b="1">
                <ns6:solidFill>
                  <ns6:srgbClr val="101C36"/>
                </ns6:solidFill>
                <ns6:hlinkClick xmlns:ns7="http://schemas.openxmlformats.org/officeDocument/2006/relationships" ns7:id="rId1"/>
              </ns6:rPr>
              <ns6:t>Video demo: camera intrinsics K are required to resolve the little–big ambiguity  ›  open little-big-ambiguty.mp4</ns6:t>
            </ns6:r>
            <ns6:endParaRPr lang="en-US" sz="1550"/>
          </ns6:p>
        </p:txBody>
      </p:sp>
    </p:spTree>
    <p:extLst>
      <p:ext uri="{BB962C8B-B14F-4D97-AF65-F5344CB8AC3E}">
        <p14:creationId xmlns:p14="http://schemas.microsoft.com/office/powerpoint/2010/main" val="14831875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5B292A-5A19-458D-8DD4-36BD276D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B6555CE2-6BC4-4ABF-B09D-A0CC75A9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0D97739C-F94D-4225-A482-B94D4D47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PROPOSED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C817E-EF65-47EB-BDC6-F8A738D3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287A0-577B-4FA8-B7DF-6F90650D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Camera-intrinsics-aware monocular depth estimation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AEACF-66F3-45CB-B79B-D45B3FEC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127BF-7656-4CDE-A4AD-72EEB773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The camera path is short and testable: K becomes a token injected into the decoder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DA216-4E00-4D71-AB5C-6AD9615C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5BF06-185F-43B0-B846-00CBDD72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6DBB4-F194-4F42-A8C7-27D23E3B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95525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EBF33-6162-44BE-86BD-CECF2D7B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INPUTS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4DAAB-1C83-49CA-BBDB-4953CB16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47875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4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885AD-5F23-4498-AF0E-A01471CB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38375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AAAD7-CC08-45F2-861B-640709F5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95525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2F16C-7335-4546-B144-BDB1D166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6225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ENCODE + FUSE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578C2-F204-4319-B4DE-2C8A4B29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DD923-FAA1-413A-ACF0-3563E4E7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38375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DC94B-5154-4C0B-8093-460EC72B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95525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E968E-81A0-4FCF-B6E6-A41B80BB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6225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A866DD-BE20-4E67-9816-3A27EBFE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RGB image</a:t>
            </a:r>
          </a:p>
          <a:p xmlns:a="http://schemas.openxmlformats.org/drawingml/2006/main">
            <a:pPr algn="l">
              <a:def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+ normalized 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BDFB51-86D2-450E-9B39-F5836F71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7182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MLP camera token</a:t>
            </a:r>
          </a:p>
          <a:p xmlns:a="http://schemas.openxmlformats.org/drawingml/2006/main">
            <a:pPr algn="l">
              <a:defRPr sz="135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+ DPT / ViT features</a:t>
            </a:r>
          </a:p>
          <a:p xmlns:a="http://schemas.openxmlformats.org/drawingml/2006/main">
            <a:pPr algn="l">
              <a:defRPr sz="135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+ decoder fusion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14794-9F41-4C5B-9CA1-EDB064EC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Relative or metric</a:t>
            </a:r>
          </a:p>
          <a:p xmlns:a="http://schemas.openxmlformats.org/drawingml/2006/main">
            <a:pPr algn="l">
              <a:def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depth map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6E98EF-FC9B-4869-B453-596213F4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443157-55ED-40D5-BC4A-BE402EDC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4A1C32-F068-422B-BEA6-DC41FDD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56D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656D8"/>
                </a:solidFill>
                <a:latin typeface="Avenir Next"/>
                <a:ea typeface="Avenir Next"/>
                <a:cs typeface="Avenir Next"/>
              </a:rPr>
              <a:t>The knockout test asks whether the output actually depends on K—not merely whether K was provided.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45BD3E-1B18-4AAA-AF6F-E34F2573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47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Implementation: camera-aware model path and training pipeline</a:t>
            </a:r>
          </a:p>
        </p:txBody>
      </p:sp>
    </p:spTree>
    <p:extLst>
      <p:ext uri="{BB962C8B-B14F-4D97-AF65-F5344CB8AC3E}">
        <p14:creationId xmlns:p14="http://schemas.microsoft.com/office/powerpoint/2010/main" val="7677630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D9954E-3289-4A5D-AE25-6E9C5FB6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A713EBC0-2EC5-4697-A972-D1505680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5ACD6BAB-B27F-4712-AED4-B42B698A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EXPERIMENTAL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F04DA-0438-47F5-8F3F-F1B88837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5F717-E10E-4E84-A28D-8D0B909F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Camera-intrinsics-aware monocular depth estimation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D719E-29CF-4387-839B-A9AEA561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C5ADB-A44F-485A-9839-B6C5BA4A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Six successive corrections—not one lucky run—created the credible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0FB95-D193-497E-B25E-362F60C9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9763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70BEB-6BAD-460B-8F6F-D46E0F70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D25E3-80D3-466C-8456-C6CA1021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52775"/>
            <a:ext cx="381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380A8-AA88-4DFD-ACBD-1575756E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Rebuild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2E4B1-79F7-498E-80C5-A2CF9974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split + protocol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67550-7DFD-42DF-B332-A18F0225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480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93CBA-5A23-4529-8DD1-D7BEA240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52775"/>
            <a:ext cx="381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73063-6EE2-4C3C-98C3-ECC6FF8E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1475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Find leakage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BD5B2-1924-462C-937F-FA5A37F7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57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527 / 654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091C6-E1C4-4902-BF4F-85C22D12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0A3654-5A99-4C4B-8D09-9F0DE70A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52775"/>
            <a:ext cx="381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63F99-5C07-409B-BDFF-C22E56CB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Fail zero-shot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00302F-E911-40A0-93A2-08F10138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57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change course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60F05-9203-46AB-9C6D-2146E568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480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A83CD-201F-4736-B27B-603D21FF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381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0CA99A-F1A6-43CC-802F-950B3EA4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Repair ViT-L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AF71C-D10D-42AE-9F55-110126A9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57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depth ↔ disparity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6368F7-6762-458D-B2EA-60119B48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9BB81-A96C-498B-808F-1097DA59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52775"/>
            <a:ext cx="381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19F767-8759-48F9-8CC2-D6238C21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Exact geometry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527002-8CBA-45E3-B849-5BDC6D7A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zoom-crop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54DB7E-4CF1-456B-A69E-5B989088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480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F5EA16-8983-4ED8-A03E-53670DF3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52775"/>
            <a:ext cx="381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FBDDF5-B269-4085-AA58-43308BE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71475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Causal proof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CDC03F-F9A0-404E-A093-E2B8C6BF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057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jitter + knockout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1D4CDA-D077-4DB5-9693-3CADBFE8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95D4B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B95D4B"/>
                </a:solidFill>
                <a:latin typeface="Avenir Next"/>
                <a:ea typeface="Avenir Next"/>
                <a:cs typeface="Avenir Next"/>
              </a:rPr>
              <a:t>Protocol validity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D1DEE9-88DE-4D8C-A85F-E9C224A5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431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381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C3812A"/>
                </a:solidFill>
                <a:latin typeface="Avenir Next"/>
                <a:ea typeface="Avenir Next"/>
                <a:cs typeface="Avenir Next"/>
              </a:rPr>
              <a:t>Output-contract validity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7E6B72-D9C7-4240-BCE6-DC33F637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431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C765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4C7652"/>
                </a:solidFill>
                <a:latin typeface="Avenir Next"/>
                <a:ea typeface="Avenir Next"/>
                <a:cs typeface="Avenir Next"/>
              </a:rPr>
              <a:t>Causal validity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9A4022-BE70-46D3-A589-851A6C31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C4C429-D954-4420-BE4B-2F30A7A1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76825"/>
            <a:ext cx="6896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Observation → interpretation → decision → controlled action → result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E87F32-D5B8-454A-B100-84883AD8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47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Source: experimental journey summarized in Table 4.3</a:t>
            </a:r>
          </a:p>
        </p:txBody>
      </p:sp>
    </p:spTree>
    <p:extLst>
      <p:ext uri="{BB962C8B-B14F-4D97-AF65-F5344CB8AC3E}">
        <p14:creationId xmlns:p14="http://schemas.microsoft.com/office/powerpoint/2010/main" val="1318089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A10322-EF68-40F0-A411-6E7726C1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84387778-B903-4292-874D-C14ADD08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C18314BB-67D2-498F-BBA9-25BCE572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VALIDITY FAILURE #1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C4E3E-ED64-425D-AC91-B076DB8C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CBC60-572A-46BC-BC1E-9EE2635F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Camera-intrinsics-aware monocular depth estimation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6D429-3E98-48FC-BE17-CA897B16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DDA44-4D3B-4637-AC6E-F2D2677C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Leakage and zero-shot failure exposed a protocol problem—not a refutation of 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D113E-05FC-4915-85D3-18F39362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B95D4B"/>
                </a:solidFill>
                <a:latin typeface="Avenir Next"/>
                <a:ea typeface="Avenir Next"/>
                <a:cs typeface="Avenir Next"/>
              </a:defRPr>
            </a:pPr>
            <a:r>
              <a:rPr sz="4500" b="1">
                <a:solidFill>
                  <a:srgbClr val="B95D4B"/>
                </a:solidFill>
                <a:latin typeface="Avenir Next"/>
                <a:ea typeface="Avenir Next"/>
                <a:cs typeface="Avenir Next"/>
              </a:rPr>
              <a:t>80.6%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62C1E-860B-4BE3-8EA2-16921D43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4000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527 of 654 Eigen-test images</a:t>
            </a:r>
          </a:p>
          <a:p xmlns:a="http://schemas.openxmlformats.org/drawingml/2006/main">
            <a:pPr algn="l">
              <a:defRPr sz="1425" b="0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appeared in the old training 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3C995-A2D2-46C0-BC62-02E1CB1E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KITTI zero-shot | AbsRel (lower is better)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9EBB6-D802-43F0-AA55-47A00778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DA2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7FB9A-802F-4C41-80B5-B05F1D61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47925"/>
            <a:ext cx="806788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A5CB1-7326-4028-86C0-23502E8A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28875"/>
            <a:ext cx="5238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C765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4C7652"/>
                </a:solidFill>
                <a:latin typeface="Avenir Next"/>
                <a:ea typeface="Avenir Next"/>
                <a:cs typeface="Avenir Next"/>
              </a:rPr>
              <a:t>0.0829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1B343-31F2-4239-99B8-8992E529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Proposed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54CC3-5208-438E-BD2C-DBBB78D9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67075"/>
            <a:ext cx="2081689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D3C13-61F9-4F51-9784-37784805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48025"/>
            <a:ext cx="5238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56D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656D8"/>
                </a:solidFill>
                <a:latin typeface="Avenir Next"/>
                <a:ea typeface="Avenir Next"/>
                <a:cs typeface="Avenir Next"/>
              </a:rPr>
              <a:t>0.2139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DD5B9-9D04-4394-929A-6897454B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6717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EB662-746D-4D41-9979-04E44F90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86225"/>
            <a:ext cx="2074876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9326C-164C-4259-9751-C0CCD829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67175"/>
            <a:ext cx="5238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0.2132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21FD93-42D4-485A-81E7-F7F47CE5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905375"/>
            <a:ext cx="1000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4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65ADF2-75CF-4AC0-B29F-123E03E4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29200"/>
            <a:ext cx="965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Decision: rebuild a leak-free split and use controlled matched arms. The zero-shot result remains documented as a generalization failure.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F27791-4D53-4E2B-84A8-5FF748BF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47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Source: §4.5.1 and the NYU/KITTI protocol reconstruction</a:t>
            </a:r>
          </a:p>
        </p:txBody>
      </p:sp>
    </p:spTree>
    <p:extLst>
      <p:ext uri="{BB962C8B-B14F-4D97-AF65-F5344CB8AC3E}">
        <p14:creationId xmlns:p14="http://schemas.microsoft.com/office/powerpoint/2010/main" val="15366171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A5BD29-F97C-4697-A8D0-540FD2FE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62F06986-CC2C-452B-98CD-974CB27D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A9A09FDA-A5CD-4E8F-B434-E39C3A26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VALIDITY FAILURE #2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7DB92-8253-4E3F-BA77-98BC7260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3454E-7D93-4801-A938-E806033F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Camera-intrinsics-aware monocular depth estimation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82AFA-4A0E-4786-88B3-86EA47AB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D83E1-E643-45EA-A72C-80235FBB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ViT-L collapse was not a learning-rate problem; the depth/disparity contract was broken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F6EC6-929F-4F08-A086-E8D63992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56712-FF2A-4C9F-A563-64B9261C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716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5D4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B95D4B"/>
                </a:solidFill>
                <a:latin typeface="Avenir Next"/>
                <a:ea typeface="Avenir Next"/>
                <a:cs typeface="Avenir Next"/>
              </a:rPr>
              <a:t>SYMPTOM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22A57-BD2C-4C45-8FE1-C596FB63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676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Near-zero output; AbsRel ≈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FA7E6-50A3-41EC-B57C-F8A61ACE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4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DB4FD-D53F-45F8-9792-CC0FC3FD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955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3812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C3812A"/>
                </a:solidFill>
                <a:latin typeface="Avenir Next"/>
                <a:ea typeface="Avenir Next"/>
                <a:cs typeface="Avenir Next"/>
              </a:rPr>
              <a:t>REJECTED FIX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DF6A8-E36B-4476-A2CB-5AE61293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76525"/>
            <a:ext cx="676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Lower head LR and warmup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9016D-C502-4C27-8A7A-15A28CC0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575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7A267-5DA4-4DD7-B49F-9FF4B6FC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194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56D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656D8"/>
                </a:solidFill>
                <a:latin typeface="Avenir Next"/>
                <a:ea typeface="Avenir Next"/>
                <a:cs typeface="Avenir Next"/>
              </a:rPr>
              <a:t>ROOT CAUSE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17FE8-FF0A-4B89-B64F-D043C24D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00425"/>
            <a:ext cx="676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Pretrained output = disparity; target = depth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742D8-B38C-44BE-9F53-9BE3B754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3E8F5-82EA-4184-BD58-24FC7BE6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433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5D4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B95D4B"/>
                </a:solidFill>
                <a:latin typeface="Avenir Next"/>
                <a:ea typeface="Avenir Next"/>
                <a:cs typeface="Avenir Next"/>
              </a:rPr>
              <a:t>FAILURE MODE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178D5-125B-4785-855F-D0F0EF08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24325"/>
            <a:ext cx="676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ReLU + clamp → dead gradients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AB527-3F4C-44D9-B86C-B9182029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C9EA8-A004-4BE8-88E0-2BEA14C5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672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C765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4C7652"/>
                </a:solidFill>
                <a:latin typeface="Avenir Next"/>
                <a:ea typeface="Avenir Next"/>
                <a:cs typeface="Avenir Next"/>
              </a:rPr>
              <a:t>REPAIR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9FB288-76F3-423E-A38B-2E762FEC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48225"/>
            <a:ext cx="676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target = 1/depth + consistent validation + metadata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30BE0B-43F0-453B-8AA9-D5BF1C5E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52450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56D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2656D8"/>
                </a:solidFill>
                <a:latin typeface="Avenir Next"/>
                <a:ea typeface="Avenir Next"/>
                <a:cs typeface="Avenir Next"/>
              </a:rPr>
              <a:t>Engineering lesson: verify semantic contracts at pipeline boundaries before tuning hyperparameters.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E1868-DDD2-4CD0-8BA4-24FFB7AD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47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Source: training/validation code, checkpoint metadata, and ViT-L repair notes</a:t>
            </a:r>
          </a:p>
        </p:txBody>
      </p:sp>
    </p:spTree>
    <p:extLst>
      <p:ext uri="{BB962C8B-B14F-4D97-AF65-F5344CB8AC3E}">
        <p14:creationId xmlns:p14="http://schemas.microsoft.com/office/powerpoint/2010/main" val="7882042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421A85-82B6-41FE-A61A-E90A64A1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D7AF0BC2-53F5-4BD9-8691-C12CFAD6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38FFB35C-894C-4383-99EB-680D0B6C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FAIR EXPERIMENT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E1794-70F5-49D4-8623-C9A757B6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C3FAA-3351-470D-8321-FF2641DF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Camera-intrinsics-aware monocular depth estimation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56B2A-5B55-4F68-AC92-62EF703F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A023E-8005-4508-9FE1-7EF2C4DA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Access to K was the only intended difference between the two matched arms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1B8F7-1869-4029-8288-C3D1CE16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4E7B2-9FB4-4CA3-BB82-BB6BD4D1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52625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CA4A4-9C91-4EE9-8D32-767B11FA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3837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56D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656D8"/>
                </a:solidFill>
                <a:latin typeface="Avenir Next"/>
                <a:ea typeface="Avenir Next"/>
                <a:cs typeface="Avenir Next"/>
              </a:rPr>
              <a:t>PROPOSED ARM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C2158-6752-498A-98FB-2565057F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3837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CONTROL ARM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52B67-23B5-4F34-A94E-40700E12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0375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RGB + correct K</a:t>
            </a:r>
          </a:p>
          <a:p xmlns:a="http://schemas.openxmlformats.org/drawingml/2006/main">
            <a:pPr algn="l">
              <a:def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camera token enabled</a:t>
            </a:r>
          </a:p>
          <a:p xmlns:a="http://schemas.openxmlformats.org/drawingml/2006/main">
            <a:pPr algn="l">
              <a:def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same initialization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AC082-CC5E-4795-81B8-AB5B3354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RGB + fixed reference K</a:t>
            </a:r>
          </a:p>
          <a:p xmlns:a="http://schemas.openxmlformats.org/drawingml/2006/main">
            <a:pPr algn="l">
              <a:def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camera information withheld</a:t>
            </a:r>
          </a:p>
          <a:p xmlns:a="http://schemas.openxmlformats.org/drawingml/2006/main">
            <a:pPr algn="l">
              <a:def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same initialization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EAEE6-9FF7-45C0-BEBA-BC1CEE3F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28575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A8CB4-6CAC-4A37-8CEA-8D4C16F0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105150"/>
            <a:ext cx="361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3812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C3812A"/>
                </a:solidFill>
                <a:latin typeface="Avenir Next"/>
                <a:ea typeface="Avenir Next"/>
                <a:cs typeface="Avenir Next"/>
              </a:rPr>
              <a:t>ONE</a:t>
            </a:r>
          </a:p>
          <a:p xmlns:a="http://schemas.openxmlformats.org/drawingml/2006/main">
            <a:pPr algn="ctr">
              <a:defRPr sz="825" b="1">
                <a:solidFill>
                  <a:srgbClr val="C3812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C3812A"/>
                </a:solidFill>
                <a:latin typeface="Avenir Next"/>
                <a:ea typeface="Avenir Next"/>
                <a:cs typeface="Avenir Next"/>
              </a:rPr>
              <a:t>DIFFERENCE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80052-DD77-489C-80B8-18662374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197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992419-38E3-4B48-8C76-5611017D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768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seed = 42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794FB-9C9B-4E56-8E4A-800B008E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2197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E06B05-4702-4F18-8D43-D0A883A6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2768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same minibatches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2830F-3E81-4234-8A34-CA631DFC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2197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BF2C2-66F5-4AC6-8379-5CEE8D99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768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same augmentation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3EF847-F6C6-4850-A5EE-775D2753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197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95076-FE32-4003-82D9-B009026F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2768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same optimizer + budget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DFF869-EA14-459D-8D5E-0E8E9009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47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Matched-arm protocol; limitation: one training seed per arm</a:t>
            </a:r>
          </a:p>
        </p:txBody>
      </p:sp>
    </p:spTree>
    <p:extLst>
      <p:ext uri="{BB962C8B-B14F-4D97-AF65-F5344CB8AC3E}">
        <p14:creationId xmlns:p14="http://schemas.microsoft.com/office/powerpoint/2010/main" val="9636839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C5D3ED-C263-4E80-A829-459397FB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42586557-11FF-4FBC-BAFD-F2E50B31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CA245EDE-BC8D-48A1-BF11-978C1EFD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EVIDENCE 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2FC8A-20E5-47FC-8138-139A3DA0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8DC88-0DA8-4D2A-8929-5BFED268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Camera-intrinsics-aware monocular depth estimation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A6B80-6190-461C-8D98-CE6B6219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7006A-529A-4F61-9E41-6F268FF0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Each experiment removed one ambiguity and made the claim narrower—but stronger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ED4B7-8374-4EDD-BB15-048C90BD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4D58D-6BB9-4590-976B-3DBC9E7D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43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90852-E632-4B59-9C49-944C06A0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Relative ViT-L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39941-CA0F-43A8-A2AF-53FFC814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Raw gain; K effect nearly tied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FA50A-859F-4362-9CE0-5C19D619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5D4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B95D4B"/>
                </a:solidFill>
                <a:latin typeface="Avenir Next"/>
                <a:ea typeface="Avenir Next"/>
                <a:cs typeface="Avenir Next"/>
              </a:rPr>
              <a:t>0.0377 vs 0.0378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EA975-6593-44ED-9345-B9245D10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3857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99017-8BFB-468B-86B5-201456E2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52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1F414-A709-4FB9-8753-0B52B8F2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67100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Metric zoom-crop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45FE8-7C61-4C8B-BD00-E251FF87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4005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RMSE gap increased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0F7B81-615D-4F09-A133-0AAB5CF5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83870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3812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C3812A"/>
                </a:solidFill>
                <a:latin typeface="Avenir Next"/>
                <a:ea typeface="Avenir Next"/>
                <a:cs typeface="Avenir Next"/>
              </a:rPr>
              <a:t>0.00545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361D5-00B4-46A1-8D1F-3B3202D7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4802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9CBAC5-03BA-48B0-A190-F7DDAE97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62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D4FBB-FBD5-4F43-AD90-7650D4B6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76550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Focal jitter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BF572C-E53F-4EAD-98A4-3847C92F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100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5 Holm-significant metrics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32486B-0F6C-413F-90DF-50242F69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4815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C765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4C7652"/>
                </a:solidFill>
                <a:latin typeface="Avenir Next"/>
                <a:ea typeface="Avenir Next"/>
                <a:cs typeface="Avenir Next"/>
              </a:rPr>
              <a:t>17.6% AbsRel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A1BB2-3F06-4EBE-886C-A6282F50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5747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0E71B7-3C4B-4A3E-8BFE-08F79843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17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DB791-D61A-411B-8DEC-232FDB29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86000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Ablation λ=0.5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052012-AFD9-4855-9573-6A280C13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2194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Jitter is the main cause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A2FA5C-EF25-4911-8D04-4B9351C8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65760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56D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656D8"/>
                </a:solidFill>
                <a:latin typeface="Avenir Next"/>
                <a:ea typeface="Avenir Next"/>
                <a:cs typeface="Avenir Next"/>
              </a:rPr>
              <a:t>slope = 0.97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E698A7-7D96-4803-89A3-4C221F1A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6692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984405-4BA9-45B9-A26F-07F8415D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F0CD5A-3508-4D59-A9FA-1BF7A0FD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95450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Knockout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BB332A-931C-4E4F-AA3C-CA89FF72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289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Removing K breaks output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49D54B-8E05-46C5-BEE0-8DD3BC50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6705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+59% AbsRel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B0DB43-BD56-4B82-906F-232F57E6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47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Source: thesis §§4.5.5–4.5.7 and fresh validation reports</a:t>
            </a:r>
          </a:p>
        </p:txBody>
      </p:sp>
    </p:spTree>
    <p:extLst>
      <p:ext uri="{BB962C8B-B14F-4D97-AF65-F5344CB8AC3E}">
        <p14:creationId xmlns:p14="http://schemas.microsoft.com/office/powerpoint/2010/main" val="1131443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592244-2A13-4E7E-853A-079D6237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7EEA5E52-C409-4186-889F-B331514C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70AEC774-77F6-4C70-B87C-500CAC6A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MAIN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C7559-06EC-4C79-89B0-B5327AD7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060D6-B363-4885-9B7E-FD1F1EAA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Camera-intrinsics-aware monocular depth estimation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331FA-83B7-40C8-95C9-D854A30B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6E9A0-2370-491E-8007-17888C43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Focal jitter improved all five metrics and survived Holm correction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CD4BE-C95C-4D6F-9D5E-39720913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573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56D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656D8"/>
                </a:solidFill>
                <a:latin typeface="Avenir Next"/>
                <a:ea typeface="Avenir Next"/>
                <a:cs typeface="Avenir Next"/>
              </a:rPr>
              <a:t>PROPOSED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ACCC0-8849-40D4-BE19-6655394D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573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43C88-A2AB-416E-B1C4-C5870BFF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AbsRel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EF03D-BEBD-4B85-92A6-516A2523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09800"/>
            <a:ext cx="196121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251DB-F614-4B26-8AE5-EA16EA26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6EFF2-760F-466F-B31B-7E2F7576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56D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656D8"/>
                </a:solidFill>
                <a:latin typeface="Avenir Next"/>
                <a:ea typeface="Avenir Next"/>
                <a:cs typeface="Avenir Next"/>
              </a:rPr>
              <a:t>0.0849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6E916-8E06-4C46-8532-E7E4EEB1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479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0.1030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ECA1C-5763-4A91-8D96-FFD27A60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C7652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4C7652"/>
                </a:solidFill>
                <a:latin typeface="Avenir Next"/>
                <a:ea typeface="Avenir Next"/>
                <a:cs typeface="Avenir Next"/>
              </a:rPr>
              <a:t>17.64%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3F255-8FBB-4CA8-BA95-21A8197C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241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error reduction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E8671D-0857-4ED6-804E-C2731364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RMSE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9909B-57AC-400D-83CE-61A9BB50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33700"/>
            <a:ext cx="213092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A9AB4-E19A-4DDD-B2BE-6A170B9F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908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723954-E8BA-4AA2-A0B4-F5B08609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56D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656D8"/>
                </a:solidFill>
                <a:latin typeface="Avenir Next"/>
                <a:ea typeface="Avenir Next"/>
                <a:cs typeface="Avenir Next"/>
              </a:rPr>
              <a:t>0.3071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013BB0-5231-4979-8CBC-C64DF78E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718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0.3431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432BAD-1B0F-4F7C-A998-F71ED71C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18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C7652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4C7652"/>
                </a:solidFill>
                <a:latin typeface="Avenir Next"/>
                <a:ea typeface="Avenir Next"/>
                <a:cs typeface="Avenir Next"/>
              </a:rPr>
              <a:t>10.51%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3FB9D5-43B5-46C6-AF35-D802CE72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48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error reduction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A56DE0-9C28-45D7-95CC-F8128D59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38550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δ1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A489F6-6F9B-49D2-87B2-5DC416E4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576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1BE87E-B933-4716-9100-A2B41A0A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14775"/>
            <a:ext cx="230761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056B68-19E9-489E-BAC3-7F8C974F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56D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656D8"/>
                </a:solidFill>
                <a:latin typeface="Avenir Next"/>
                <a:ea typeface="Avenir Next"/>
                <a:cs typeface="Avenir Next"/>
              </a:rPr>
              <a:t>0.9520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16B5F7-7CDE-42AF-8BE4-CC7B8B62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957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0.9226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8B19E9-482C-44E0-96F2-97E2D4EF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C7652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4C7652"/>
                </a:solidFill>
                <a:latin typeface="Avenir Next"/>
                <a:ea typeface="Avenir Next"/>
                <a:cs typeface="Avenir Next"/>
              </a:rPr>
              <a:t>3.19%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624697-FD3A-4738-830D-9C98E0A2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719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accuracy increase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32A627-1BA3-432C-ABB0-89C83BCC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62450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SILog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0C3101-2A17-445E-9207-49593843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81500"/>
            <a:ext cx="214771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31E9BA-8B71-46E1-B764-C1DF4499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386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6CAE62-FCD8-47A6-A3BA-EE65A89D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56D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656D8"/>
                </a:solidFill>
                <a:latin typeface="Avenir Next"/>
                <a:ea typeface="Avenir Next"/>
                <a:cs typeface="Avenir Next"/>
              </a:rPr>
              <a:t>0.0942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6F11F9-DA40-41A5-B1B5-4C2A9BC1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0.1045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2E4397-DD9E-4534-A9B6-19A6E4FC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C7652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4C7652"/>
                </a:solidFill>
                <a:latin typeface="Avenir Next"/>
                <a:ea typeface="Avenir Next"/>
                <a:cs typeface="Avenir Next"/>
              </a:rPr>
              <a:t>9.81%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15195E-F70F-4892-BA0F-54AD3F47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958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error reduction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334BC5-66EC-4137-A205-63EFFD60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86350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log10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34EEFC-C8A4-418C-9DDB-5D6BBAA7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05400"/>
            <a:ext cx="202108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102E8D-3433-4152-A5C5-AC8B85F0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625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565C32-E739-47C8-B287-1A63A1F5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863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56D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656D8"/>
                </a:solidFill>
                <a:latin typeface="Avenir Next"/>
                <a:ea typeface="Avenir Next"/>
                <a:cs typeface="Avenir Next"/>
              </a:rPr>
              <a:t>0.0363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0CE51F-0CBE-400A-A1AB-3E2D8331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435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0.0427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89303D-DB51-4B94-A460-40826A58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C7652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4C7652"/>
                </a:solidFill>
                <a:latin typeface="Avenir Next"/>
                <a:ea typeface="Avenir Next"/>
                <a:cs typeface="Avenir Next"/>
              </a:rPr>
              <a:t>15.13%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DB084C-702F-4AFB-BDEB-980B40F1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197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error reduction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45FB7F-E4C1-453C-8996-BD2635B8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2D7058-0FAA-42DC-89FB-B995592A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62625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C765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4C7652"/>
                </a:solidFill>
                <a:latin typeface="Avenir Next"/>
                <a:ea typeface="Avenir Next"/>
                <a:cs typeface="Avenir Next"/>
              </a:rPr>
              <a:t>All differences remain significant after Holm correction.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C3C4AA-CE02-43B3-AB22-CEFF1A2D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47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Final focal-jitter evaluation; exact values in the comprehensive guide</a:t>
            </a:r>
          </a:p>
        </p:txBody>
      </p:sp>
    </p:spTree>
    <p:extLst>
      <p:ext uri="{BB962C8B-B14F-4D97-AF65-F5344CB8AC3E}">
        <p14:creationId xmlns:p14="http://schemas.microsoft.com/office/powerpoint/2010/main" val="20654969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298067-8713-4CC1-A679-E9EE3026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2DD32DEB-8ED9-4ED3-B4D7-58A63358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EA30BEE6-A6BD-482C-963B-5F865F22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RESPONSE TO 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7F0A4-E03B-4FE8-AF49-51A9E5F7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C66B5-97D9-446D-B231-4D4C9B7B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Camera-intrinsics-aware monocular depth estimation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F6A50-B273-4F64-800D-7427DD49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3716B-62DE-4247-9AC6-3A4C7EEF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After focal jitter, the model response to K approached the ideal slope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E02DD-A16E-45D7-9DA8-0D5339D3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IDEAL SLOPE = 1.00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9CF45-783B-4EE9-ABA2-E1BAD3F1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38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EBA9B-48F4-4A3A-B8DF-F68F7D9B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76450"/>
            <a:ext cx="190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4915A-510D-4A60-996F-7DE73444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483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0.00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BF808-3C65-4AA6-A0D1-C4366F3D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190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97E9F-8A61-4C9A-A719-3C0CE0B8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483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0.25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D5AE36-0979-424D-83FE-425A94D7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190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BC19A-0637-4A00-AADB-E16DB98C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483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0.50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EF4D43-727D-4B24-89B1-00148FB0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190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B5E91-B7AD-435A-A809-08F30E03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483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0.75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A4D50-788D-4C21-92A7-6E5E6300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76450"/>
            <a:ext cx="190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8818C9-65B9-4802-ADBD-64BB2522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4483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1.00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50C48-C112-409D-96AB-8A9803B4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1350A-AD99-4C9A-B2A6-FE3D73B2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1460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1DAF31-D698-471B-B893-8580AB99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14600"/>
            <a:ext cx="590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0.00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3D7116-1010-4F6C-8494-DF6E29BD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241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Metric round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6D01ED-CA16-4D68-A1AE-1A825296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00400"/>
            <a:ext cx="50292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FE9ACC-0491-4A32-BECD-D553FC8D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0400"/>
            <a:ext cx="590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3812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C3812A"/>
                </a:solidFill>
                <a:latin typeface="Avenir Next"/>
                <a:ea typeface="Avenir Next"/>
                <a:cs typeface="Avenir Next"/>
              </a:rPr>
              <a:t>0.06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753E5A-4F08-4268-B4D4-453AFFD8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099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Focal jitter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C662F9-BC4D-4531-92FB-5B1880A7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86200"/>
            <a:ext cx="779526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563348-C39E-441A-99CD-A7E9FD4A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590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765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4C7652"/>
                </a:solidFill>
                <a:latin typeface="Avenir Next"/>
                <a:ea typeface="Avenir Next"/>
                <a:cs typeface="Avenir Next"/>
              </a:rPr>
              <a:t>0.93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A8D4F6-2BDB-48A6-A249-0339287B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957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Ablation λ=0.5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9D6AFF-AD51-4A2D-95F0-0E8A4311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72000"/>
            <a:ext cx="813054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6E7227-A850-4C53-A680-706F19B3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590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56D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2656D8"/>
                </a:solidFill>
                <a:latin typeface="Avenir Next"/>
                <a:ea typeface="Avenir Next"/>
                <a:cs typeface="Avenir Next"/>
              </a:rPr>
              <a:t>0.97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CFC20C-9FF9-4DC0-8511-D1D37698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0"/>
            <a:ext cx="285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9B4914-E8F8-49B6-BE2E-16F428BB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809750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1.0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6187F9-B6AB-46A7-A64C-56ECA66A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43575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F71BC7-BB56-4EA7-9A9C-EBEB10AC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67400"/>
            <a:ext cx="699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Interpretation: the network learned how changes in K should change output scale.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5AE2E5-FF34-45B8-8322-76E3DBC1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47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K-sweep slope ± CI from §§4.5.6–4.5.7 validation</a:t>
            </a:r>
          </a:p>
        </p:txBody>
      </p:sp>
    </p:spTree>
    <p:extLst>
      <p:ext uri="{BB962C8B-B14F-4D97-AF65-F5344CB8AC3E}">
        <p14:creationId xmlns:p14="http://schemas.microsoft.com/office/powerpoint/2010/main" val="157284460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C951A5-E562-480F-B241-2DF7C7DB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7FDECB21-3D3C-4261-B215-AC244204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0D95B653-FDFC-4013-B179-5E7D9CF5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NECESSITY OF 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871B2-B6FC-468C-AA40-731354FD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F1A00-8028-4106-BD25-A6A0303F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Camera-intrinsics-aware monocular depth estimation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E6535-362F-4EAE-8EFE-C9B8C5B5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AC003-4F95-4CBC-823C-8BF657E0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Removing or deliberately corrupting K sharply increased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5C6FB-D91C-4803-A995-961C885A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AbsRel — lower is better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ED14E-BDD1-40EC-8CE5-1D2EEDA8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860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Correct 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16CEA-40DF-44DA-9AF8-B17A4FCA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95525"/>
            <a:ext cx="136906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D395C-B9BB-40AF-8173-0C15AB8D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14575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765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C7652"/>
                </a:solidFill>
                <a:latin typeface="Avenir Next"/>
                <a:ea typeface="Avenir Next"/>
                <a:cs typeface="Avenir Next"/>
              </a:rPr>
              <a:t>0.0924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72BE5-FD4F-4308-BE9E-953447E3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670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K withheld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066FA-91FD-489F-AEDE-1079DD9F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76575"/>
            <a:ext cx="217360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B9B2E-FE32-43C4-A59A-B8DCFB91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5625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3812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C3812A"/>
                </a:solidFill>
                <a:latin typeface="Avenir Next"/>
                <a:ea typeface="Avenir Next"/>
                <a:cs typeface="Avenir Next"/>
              </a:rPr>
              <a:t>0.1467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28051-6D6B-45CD-B8F8-E569AB51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481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f × 0.7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070C9-7213-4030-8939-B50454B6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57625"/>
            <a:ext cx="4277572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2E4B95-C7A5-44F8-A336-F3163F51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76675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5D4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B95D4B"/>
                </a:solidFill>
                <a:latin typeface="Avenir Next"/>
                <a:ea typeface="Avenir Next"/>
                <a:cs typeface="Avenir Next"/>
              </a:rPr>
              <a:t>0.2887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201D60-B808-4D62-A39C-5C1B19E1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291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f × 1.4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3DE33-E90D-4BC9-9658-6905499B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38675"/>
            <a:ext cx="6332643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957523-DE1C-4D3A-9AEA-E2187EDB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57725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0.4274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174968-62A0-4006-B0F6-3C917FF5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190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3812A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C3812A"/>
                </a:solidFill>
                <a:latin typeface="Avenir Next"/>
                <a:ea typeface="Avenir Next"/>
                <a:cs typeface="Avenir Next"/>
              </a:rPr>
              <a:t>+59%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005988-6399-4422-A1BF-86C5B2D5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749C22-9E05-444F-AE67-36CE0F6D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95950"/>
            <a:ext cx="746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56D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656D8"/>
                </a:solidFill>
                <a:latin typeface="Avenir Next"/>
                <a:ea typeface="Avenir Next"/>
                <a:cs typeface="Avenir Next"/>
              </a:rPr>
              <a:t>This test shows direct functional dependence on K more clearly than a simple two-model comparison.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8AC021-3D3E-4A6D-A120-93784800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47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Knockout / wrong-K; full RMSE and δ1 values are in the comprehensive guide</a:t>
            </a:r>
          </a:p>
        </p:txBody>
      </p:sp>
    </p:spTree>
    <p:extLst>
      <p:ext uri="{BB962C8B-B14F-4D97-AF65-F5344CB8AC3E}">
        <p14:creationId xmlns:p14="http://schemas.microsoft.com/office/powerpoint/2010/main" val="91210396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1E2CF6-D390-463E-B949-A4E9D456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6FD44063-DE46-4AC1-85E1-0E520E76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9F7AF3CD-AEB0-4F8C-B746-638ACCB9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SCIENTIFIC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E764B-9E6D-4B74-9A17-9ED7BD4F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295C1-6CA5-4274-802D-13DC413F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Camera-intrinsics-aware monocular depth estimation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46765-D5B4-4FE6-A36A-24FD2C2A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52AE6-264B-4C15-B48D-A9ED3A9E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The main contribution is a controlled evidence chain—with explicit claim boundaries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DF550-9545-4FBB-8552-B43D99AF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51911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910FA-59C0-4FB7-9494-ABED3D47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1911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8200-44ED-4D30-A1A9-C79494B3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C7652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4C7652"/>
                </a:solidFill>
                <a:latin typeface="Avenir Next"/>
                <a:ea typeface="Avenir Next"/>
                <a:cs typeface="Avenir Next"/>
              </a:rPr>
              <a:t>WHAT THE EVIDENCE SUPPORTS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01F68-8FDB-453C-BFB7-3B66EF28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• K-aware camera-token architecture</a:t>
            </a:r>
          </a:p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• geometrically exact zoom-crop</a:t>
            </a:r>
          </a:p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• physical focal jitter + matched arms</a:t>
            </a:r>
          </a:p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• significant improvement in five metrics</a:t>
            </a:r>
          </a:p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• K-sweep and knockout evidence of K 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EE7BF-261B-431F-BE10-20E8BA41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95D4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B95D4B"/>
                </a:solidFill>
                <a:latin typeface="Avenir Next"/>
                <a:ea typeface="Avenir Next"/>
                <a:cs typeface="Avenir Next"/>
              </a:rPr>
              <a:t>WHAT WE SHOULD NOT OVERCLAIM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62F7D-5719-4738-936B-AB5D0D93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14625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• one training seed per arm</a:t>
            </a:r>
          </a:p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• image-level tests do not estimate training variance</a:t>
            </a:r>
          </a:p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• Middlebury is not a causal focal test</a:t>
            </a:r>
          </a:p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• final fine-tuning is supervised</a:t>
            </a:r>
          </a:p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• cross-domain generalization remains unresolved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1690E-083E-458F-B5F4-BCDFA24D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72125"/>
            <a:ext cx="542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0BD86-4853-4375-8C63-7455C153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695950"/>
            <a:ext cx="5086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more precise claim makes a stronger defense.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3A628B-FA03-4F13-B730-3E2D6743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47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Source: Chapter 5 conclusions and statistical-validity limitations</a:t>
            </a:r>
          </a:p>
        </p:txBody>
      </p:sp>
    </p:spTree>
    <p:extLst>
      <p:ext uri="{BB962C8B-B14F-4D97-AF65-F5344CB8AC3E}">
        <p14:creationId xmlns:p14="http://schemas.microsoft.com/office/powerpoint/2010/main" val="177121946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E26C1A-F525-4A77-AF82-B7259D6C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BC27FAB4-8F51-4239-82B1-C7F51696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C79503AA-E8D5-41FF-85F8-EADDB766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DEFENSE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4D2D3-1AD8-444F-9D5F-0DDFB14F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41E7B-1CC9-4D46-997E-84EFF760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Camera-intrinsics-aware monocular depth estimation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21735-FBE8-4A50-8B77-EF215E68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10CC7-3382-4D1B-A794-8F0CD68F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Three difficult questions have direct, evidence-backed answers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FC13E-8D48-4864-A0AE-0B4EE00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56D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656D8"/>
                </a:solidFill>
                <a:latin typeface="Avenir Next"/>
                <a:ea typeface="Avenir Next"/>
                <a:cs typeface="Avenir Next"/>
              </a:rPr>
              <a:t>How do you know the gain comes from K?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D3BE4-0EBD-4946-8545-800E78EA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F1518-47A4-4785-9C6D-38720323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Matched arms + ablation + K-sweep + knockout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08056-F378-4E27-BC97-F23FB4DE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3812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C3812A"/>
                </a:solidFill>
                <a:latin typeface="Avenir Next"/>
                <a:ea typeface="Avenir Next"/>
                <a:cs typeface="Avenir Next"/>
              </a:rPr>
              <a:t>Why did relative-depth results nearly tie?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730D4-C3B8-4660-9502-999E14BD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8293E-7018-40FF-B4D1-2EF1E336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Scale alignment and fixed K removed the scale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2EF65-F228-4976-9D4E-D91476CD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C7652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4C7652"/>
                </a:solidFill>
                <a:latin typeface="Avenir Next"/>
                <a:ea typeface="Avenir Next"/>
                <a:cs typeface="Avenir Next"/>
              </a:rPr>
              <a:t>Is the statistical evidence sufficient?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9EFAD-ACAF-4E8D-924D-6EF23457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863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A98EA-965B-47D1-82F9-86E24E1F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C3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1C36"/>
                </a:solidFill>
                <a:latin typeface="Avenir Next"/>
                <a:ea typeface="Avenir Next"/>
                <a:cs typeface="Avenir Next"/>
              </a:rPr>
              <a:t>Yes at image level; multiple training seeds are still needed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78408-929C-4D69-AEFC-4FE4D86A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5D4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B95D4B"/>
                </a:solidFill>
                <a:latin typeface="Avenir Next"/>
                <a:ea typeface="Avenir Next"/>
                <a:cs typeface="Avenir Next"/>
              </a:rPr>
              <a:t>BACKUP QUESTIONS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57758D-00BC-4450-B679-24903C0C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429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Why was Middlebury reframed?   |   Why did zero-shot fail?   |   What is the next experiment?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77C19-4727-4B3A-A1EB-F04ADD6A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47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87083"/>
                </a:solidFill>
                <a:latin typeface="Avenir Next"/>
                <a:ea typeface="Avenir Next"/>
                <a:cs typeface="Avenir Next"/>
              </a:rPr>
              <a:t>Complete answers and additional questions: §13 of the Persian comprehensive guide</a:t>
            </a:r>
          </a:p>
        </p:txBody>
      </p:sp>
    </p:spTree>
    <p:extLst>
      <p:ext uri="{BB962C8B-B14F-4D97-AF65-F5344CB8AC3E}">
        <p14:creationId xmlns:p14="http://schemas.microsoft.com/office/powerpoint/2010/main" val="377539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2026-08-13T13:40:00.1580000Z</dcterms:created>
  <dcterms:modified xsi:type="dcterms:W3CDTF">2026-08-13T13:40:00.1580000Z</dcterms:modified>
</coreProperties>
</file>