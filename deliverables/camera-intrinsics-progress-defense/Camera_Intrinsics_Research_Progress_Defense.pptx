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2a53e5ffad411d" /><Relationship Type="http://schemas.openxmlformats.org/officeDocument/2006/relationships/extended-properties" Target="/docProps/app.xml" Id="R45884178067e43eb" /><Relationship Type="http://schemas.openxmlformats.org/officeDocument/2006/relationships/officeDocument" Target="/ppt/presentation.xml" Id="R43891de1cefa4ed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6bd2d5f17c4b6b"/>
  </p:sldMasterIdLst>
  <p:notesMasterIdLst>
    <p:notesMasterId xmlns:r="http://schemas.openxmlformats.org/officeDocument/2006/relationships" r:id="R782a6b6850d44190"/>
  </p:notesMasterIdLst>
  <p:sldIdLst>
    <p:sldId xmlns:r="http://schemas.openxmlformats.org/officeDocument/2006/relationships" id="256" r:id="Rc68e03aef60c4db8"/>
    <p:sldId xmlns:r="http://schemas.openxmlformats.org/officeDocument/2006/relationships" id="257" r:id="R332c2b70c1c543cb"/>
    <p:sldId xmlns:r="http://schemas.openxmlformats.org/officeDocument/2006/relationships" id="258" r:id="R62accb5992684a4f"/>
    <p:sldId xmlns:r="http://schemas.openxmlformats.org/officeDocument/2006/relationships" id="259" r:id="R85ec7fa55ed74f4e"/>
    <p:sldId xmlns:r="http://schemas.openxmlformats.org/officeDocument/2006/relationships" id="260" r:id="Rc919b639048d44c7"/>
    <p:sldId xmlns:r="http://schemas.openxmlformats.org/officeDocument/2006/relationships" id="261" r:id="R2f12d61b74834957"/>
    <p:sldId xmlns:r="http://schemas.openxmlformats.org/officeDocument/2006/relationships" id="262" r:id="Rb441393c78484653"/>
    <p:sldId xmlns:r="http://schemas.openxmlformats.org/officeDocument/2006/relationships" id="263" r:id="R13f4682629c141ce"/>
    <p:sldId xmlns:r="http://schemas.openxmlformats.org/officeDocument/2006/relationships" id="264" r:id="Rb9a8be0977ec4fe8"/>
    <p:sldId xmlns:r="http://schemas.openxmlformats.org/officeDocument/2006/relationships" id="265" r:id="R14b63ab3c4904d7b"/>
    <p:sldId xmlns:r="http://schemas.openxmlformats.org/officeDocument/2006/relationships" id="266" r:id="R144ba5d4476a4a9f"/>
    <p:sldId xmlns:r="http://schemas.openxmlformats.org/officeDocument/2006/relationships" id="267" r:id="R1e88f37b546f4e4f"/>
    <p:sldId xmlns:r="http://schemas.openxmlformats.org/officeDocument/2006/relationships" id="268" r:id="R36d2492b2d0c4b8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6bd2d5f17c4b6b" /><Relationship Type="http://schemas.openxmlformats.org/officeDocument/2006/relationships/theme" Target="/ppt/theme/theme1.xml" Id="Rb6eab47040f6416c" /><Relationship Type="http://schemas.openxmlformats.org/officeDocument/2006/relationships/notesMaster" Target="/ppt/notesMasters/notesMaster1.xml" Id="R782a6b6850d44190" /><Relationship Type="http://schemas.openxmlformats.org/officeDocument/2006/relationships/presProps" Target="/ppt/presProps.xml" Id="R63728fe6428e4a45" /><Relationship Type="http://schemas.openxmlformats.org/officeDocument/2006/relationships/viewProps" Target="/ppt/viewProps.xml" Id="Rde4567203d204720" /><Relationship Type="http://schemas.openxmlformats.org/officeDocument/2006/relationships/tableStyles" Target="/ppt/tableStyles.xml" Id="Rfac466af73e34ba0" /><Relationship Type="http://schemas.openxmlformats.org/officeDocument/2006/relationships/slide" Target="/ppt/slides/slide1.xml" Id="Rc68e03aef60c4db8" /><Relationship Type="http://schemas.openxmlformats.org/officeDocument/2006/relationships/slide" Target="/ppt/slides/slide2.xml" Id="R332c2b70c1c543cb" /><Relationship Type="http://schemas.openxmlformats.org/officeDocument/2006/relationships/slide" Target="/ppt/slides/slide3.xml" Id="R62accb5992684a4f" /><Relationship Type="http://schemas.openxmlformats.org/officeDocument/2006/relationships/slide" Target="/ppt/slides/slide4.xml" Id="R85ec7fa55ed74f4e" /><Relationship Type="http://schemas.openxmlformats.org/officeDocument/2006/relationships/slide" Target="/ppt/slides/slide5.xml" Id="Rc919b639048d44c7" /><Relationship Type="http://schemas.openxmlformats.org/officeDocument/2006/relationships/slide" Target="/ppt/slides/slide6.xml" Id="R2f12d61b74834957" /><Relationship Type="http://schemas.openxmlformats.org/officeDocument/2006/relationships/slide" Target="/ppt/slides/slide7.xml" Id="Rb441393c78484653" /><Relationship Type="http://schemas.openxmlformats.org/officeDocument/2006/relationships/slide" Target="/ppt/slides/slide8.xml" Id="R13f4682629c141ce" /><Relationship Type="http://schemas.openxmlformats.org/officeDocument/2006/relationships/slide" Target="/ppt/slides/slide9.xml" Id="Rb9a8be0977ec4fe8" /><Relationship Type="http://schemas.openxmlformats.org/officeDocument/2006/relationships/slide" Target="/ppt/slides/slide10.xml" Id="R14b63ab3c4904d7b" /><Relationship Type="http://schemas.openxmlformats.org/officeDocument/2006/relationships/slide" Target="/ppt/slides/slide11.xml" Id="R144ba5d4476a4a9f" /><Relationship Type="http://schemas.openxmlformats.org/officeDocument/2006/relationships/slide" Target="/ppt/slides/slide12.xml" Id="R1e88f37b546f4e4f" /><Relationship Type="http://schemas.openxmlformats.org/officeDocument/2006/relationships/slide" Target="/ppt/slides/slide13.xml" Id="R36d2492b2d0c4b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e93c26b65904e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274bf5d99f4840" /><Relationship Type="http://schemas.openxmlformats.org/officeDocument/2006/relationships/notesMaster" Target="/ppt/notesMasters/notesMaster1.xml" Id="Rf722fd76746342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13ee23e02a4270" /><Relationship Type="http://schemas.openxmlformats.org/officeDocument/2006/relationships/notesMaster" Target="/ppt/notesMasters/notesMaster1.xml" Id="Rc80fefdca63541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d30d2a8c4e4fad" /><Relationship Type="http://schemas.openxmlformats.org/officeDocument/2006/relationships/notesMaster" Target="/ppt/notesMasters/notesMaster1.xml" Id="Rffa1e5040f464f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ad7b86643c4bc9" /><Relationship Type="http://schemas.openxmlformats.org/officeDocument/2006/relationships/notesMaster" Target="/ppt/notesMasters/notesMaster1.xml" Id="Rd5a935d176784d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8784ecc8b1450f" /><Relationship Type="http://schemas.openxmlformats.org/officeDocument/2006/relationships/notesMaster" Target="/ppt/notesMasters/notesMaster1.xml" Id="R41bdb80991d643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0a030ed7444c1d" /><Relationship Type="http://schemas.openxmlformats.org/officeDocument/2006/relationships/notesMaster" Target="/ppt/notesMasters/notesMaster1.xml" Id="Ra35094fc14604d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da183abf6749c9" /><Relationship Type="http://schemas.openxmlformats.org/officeDocument/2006/relationships/notesMaster" Target="/ppt/notesMasters/notesMaster1.xml" Id="R9c0ac96b7a964d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3973f1a592429c" /><Relationship Type="http://schemas.openxmlformats.org/officeDocument/2006/relationships/notesMaster" Target="/ppt/notesMasters/notesMaster1.xml" Id="R84880ea3340e41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9a81fed6364d4a" /><Relationship Type="http://schemas.openxmlformats.org/officeDocument/2006/relationships/notesMaster" Target="/ppt/notesMasters/notesMaster1.xml" Id="Rb9ef9fc017014c3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db668586d14b3d" /><Relationship Type="http://schemas.openxmlformats.org/officeDocument/2006/relationships/notesMaster" Target="/ppt/notesMasters/notesMaster1.xml" Id="Rcd92d9ba986047c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db5ece2cb45406f" /><Relationship Type="http://schemas.openxmlformats.org/officeDocument/2006/relationships/notesMaster" Target="/ppt/notesMasters/notesMaster1.xml" Id="Re599eacb0520440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01ff6708594d34" /><Relationship Type="http://schemas.openxmlformats.org/officeDocument/2006/relationships/notesMaster" Target="/ppt/notesMasters/notesMaster1.xml" Id="Rbc6ce4875b7f4ad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90c2e731a2b46de" /><Relationship Type="http://schemas.openxmlformats.org/officeDocument/2006/relationships/notesMaster" Target="/ppt/notesMasters/notesMaster1.xml" Id="R8ff36681bd3f4b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5d4f50df58489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6eaca9c086442e5" /><Relationship Type="http://schemas.openxmlformats.org/officeDocument/2006/relationships/slideLayout" Target="/ppt/slideLayouts/slideLayout2.xml" Id="Rb2858bf78c7844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858bf78c7844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ba3ff482fb43a9" /><Relationship Type="http://schemas.openxmlformats.org/officeDocument/2006/relationships/notesSlide" Target="/ppt/notesSlides/notesSlide1.xml" Id="R7d2ecebeaa7d4a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1e5ec0ed4e4136" /><Relationship Type="http://schemas.openxmlformats.org/officeDocument/2006/relationships/notesSlide" Target="/ppt/notesSlides/notesSlide2.xml" Id="Re75f90a14e7e40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1d5dd8e1c24bb7" /><Relationship Type="http://schemas.openxmlformats.org/officeDocument/2006/relationships/notesSlide" Target="/ppt/notesSlides/notesSlide3.xml" Id="R43ddf94779e340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7bc1531c334b9f" /><Relationship Type="http://schemas.openxmlformats.org/officeDocument/2006/relationships/notesSlide" Target="/ppt/notesSlides/notesSlide4.xml" Id="R5dcb85a0469947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c2f27cf34946fe" /><Relationship Type="http://schemas.openxmlformats.org/officeDocument/2006/relationships/notesSlide" Target="/ppt/notesSlides/notesSlide5.xml" Id="Rb6ded4f76f9441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8fd8662dc944fb" /><Relationship Type="http://schemas.openxmlformats.org/officeDocument/2006/relationships/notesSlide" Target="/ppt/notesSlides/notesSlide6.xml" Id="Re7c6efbcee0e481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b90fd3c5dd440b" /><Relationship Type="http://schemas.openxmlformats.org/officeDocument/2006/relationships/notesSlide" Target="/ppt/notesSlides/notesSlide7.xml" Id="Rad3cbb223a9640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08fc0c9e494c79" /><Relationship Type="http://schemas.openxmlformats.org/officeDocument/2006/relationships/notesSlide" Target="/ppt/notesSlides/notesSlide8.xml" Id="R624befe75f24480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cd1f8e5cd64494" /><Relationship Type="http://schemas.openxmlformats.org/officeDocument/2006/relationships/notesSlide" Target="/ppt/notesSlides/notesSlide9.xml" Id="R0fa240be796347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0d6b43a3574f05" /><Relationship Type="http://schemas.openxmlformats.org/officeDocument/2006/relationships/notesSlide" Target="/ppt/notesSlides/notesSlide10.xml" Id="Re4935c97f6564e0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a77a96c3834522" /><Relationship Type="http://schemas.openxmlformats.org/officeDocument/2006/relationships/notesSlide" Target="/ppt/notesSlides/notesSlide11.xml" Id="Rf7157f1a48fb40f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e182f8479442be" /><Relationship Type="http://schemas.openxmlformats.org/officeDocument/2006/relationships/notesSlide" Target="/ppt/notesSlides/notesSlide12.xml" Id="Rfdf08e0d53144c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0cd031ae894098" /><Relationship Type="http://schemas.openxmlformats.org/officeDocument/2006/relationships/notesSlide" Target="/ppt/notesSlides/notesSlide13.xml" Id="R948e03cd908d41b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721CB2-BA7E-4A7A-AFB0-73E5DB56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0C8D5C-0641-490E-AEAF-8BA28FF0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F6C43D-B498-4E2C-9FB6-572EDB96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666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76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49DBAB-D3D4-4A1E-8EC0-E7E8F2A9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2865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TWO-MONTH RESEARCH PROGRESS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81E528-A193-485F-BED7-A496785E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723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From an architectural idea</a:t>
            </a:r>
          </a:p>
          <a:p xmlns:a="http://schemas.openxmlformats.org/drawingml/2006/main">
            <a:pPr algn="l">
              <a:defRPr sz="36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to causal evidence for 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A40E43-F6E9-4868-8A9A-39A5F51B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771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Experiments, failures, corrections, results, and defensible claims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675711-3CD3-4A45-A4A0-752FB6A0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10715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9D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E4ADC5-D6C8-4093-BDC2-DEE6457A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33825"/>
            <a:ext cx="103727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Main message: K becomes a useful scale signal only when the objective preserves absolute scale and the training data truly varies 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972615-5275-4F13-8F8E-1DF89687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10715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4FA68-FAC3-46B4-95D9-416011BD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527/654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4DD31D-DFE3-468F-B402-F6D19BCB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leaked test images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1F6D65-C7BA-4193-9D57-6E59B886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7687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5 metrics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68F2B0-5FE3-430F-9E6A-C93C3534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9055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final improvement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528E6D-2F70-4307-8AEA-2AFF1DC6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47687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0.93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C581B4-FDED-4885-9E95-75E6EC76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9055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response slope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1B6516-9051-4250-B8F3-7CA6AED7D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47687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95D4B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B95D4B"/>
                </a:solidFill>
                <a:latin typeface="Avenir Next"/>
                <a:ea typeface="Avenir Next"/>
                <a:cs typeface="Avenir Next"/>
              </a:rPr>
              <a:t>+59%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B23679-E2A8-4CBA-85A1-DB7EED3A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9055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without correct 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CE339D-6275-4351-954B-8DE0CC9E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10715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Progress defense deck | August 2026</a:t>
            </a:r>
          </a:p>
        </p:txBody>
      </p:sp>
    </p:spTree>
    <p:extLst>
      <p:ext uri="{BB962C8B-B14F-4D97-AF65-F5344CB8AC3E}">
        <p14:creationId xmlns:p14="http://schemas.microsoft.com/office/powerpoint/2010/main" val="111216542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3FF7EC-0894-4F05-8019-B262D7413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2-marker">
            <a:extLst xmlns:a="http://schemas.openxmlformats.org/drawingml/2006/main">
              <a:ext uri="{FF2B5EF4-FFF2-40B4-BE49-F238E27FC236}">
                <a16:creationId xmlns:a16="http://schemas.microsoft.com/office/drawing/2014/main" id="{96CE539F-55E3-4780-9551-D08F795E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2-label">
            <a:extLst xmlns:a="http://schemas.openxmlformats.org/drawingml/2006/main">
              <a:ext uri="{FF2B5EF4-FFF2-40B4-BE49-F238E27FC236}">
                <a16:creationId xmlns:a16="http://schemas.microsoft.com/office/drawing/2014/main" id="{60D3AFD6-111F-4F61-B8C3-6FF78EBF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RESEARCH HYPOTHESIS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533A9-A5F3-49F4-9B62-267E8C91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556864-9E69-472E-943F-9BA36FFE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Camera-intrinsics-aware monocular depth estimation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5B378-DC46-4BD0-82D7-3D4A1814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376DFA-02F7-411E-978B-25D9AA90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K alone is not enough: scale identifiability depends on the target and camera variation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DDED39-8B4F-4846-B0C7-53646273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57375"/>
            <a:ext cx="4762500" cy="2809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A611CC-2361-43D7-904E-CA362B9D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857375"/>
            <a:ext cx="4762500" cy="2809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9D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5C5355-CB76-4DD2-A9BD-8399205E2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95D4B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B95D4B"/>
                </a:solidFill>
                <a:latin typeface="Avenir Next"/>
                <a:ea typeface="Avenir Next"/>
                <a:cs typeface="Avenir Next"/>
              </a:rPr>
              <a:t>Relative depth + fixed 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860686-C330-4F60-9F79-52185040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400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Scale alignment during evaluation removes the absolute-scale signal. A model can ignore K and still score well.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CF5DA-204F-4006-A88E-F43409DB6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5D4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B95D4B"/>
                </a:solidFill>
                <a:latin typeface="Avenir Next"/>
                <a:ea typeface="Avenir Next"/>
                <a:cs typeface="Avenir Next"/>
              </a:rPr>
              <a:t>Outcome: proposed and control nearly tie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6F9D5A-427C-48CD-9BF7-7FFAC348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15265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Metric depth + varied 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3A1D59-BFD7-41BF-A16D-32BB4CFE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781300"/>
            <a:ext cx="400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The target retains physical scale, while focal jitter creates a controlled geometric relation between f and Z.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0F2A11-5D6A-44D0-91D7-7984D0D1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095750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Outcome: K becomes testable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803E8F-6775-4770-AEC4-1CC64523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48250"/>
            <a:ext cx="609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237BC8-CA38-4B9B-990D-8DE6F358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172075"/>
            <a:ext cx="5753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(f, Z) → (αf, αZ)     |     RGB, cx, and cy remain fixed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1200A6-AFE8-4CF0-BD74-D2D32A1D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57925"/>
            <a:ext cx="1047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Source: thesis §§3.7.7–3.7.8 and §4.5</a:t>
            </a:r>
          </a:p>
        </p:txBody>
      </p:sp>
    </p:spTree>
    <p:extLst>
      <p:ext uri="{BB962C8B-B14F-4D97-AF65-F5344CB8AC3E}">
        <p14:creationId xmlns:p14="http://schemas.microsoft.com/office/powerpoint/2010/main" val="148318752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5B292A-5A19-458D-8DD4-36BD276D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3-marker">
            <a:extLst xmlns:a="http://schemas.openxmlformats.org/drawingml/2006/main">
              <a:ext uri="{FF2B5EF4-FFF2-40B4-BE49-F238E27FC236}">
                <a16:creationId xmlns:a16="http://schemas.microsoft.com/office/drawing/2014/main" id="{B6555CE2-6BC4-4ABF-B09D-A0CC75A9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3-label">
            <a:extLst xmlns:a="http://schemas.openxmlformats.org/drawingml/2006/main">
              <a:ext uri="{FF2B5EF4-FFF2-40B4-BE49-F238E27FC236}">
                <a16:creationId xmlns:a16="http://schemas.microsoft.com/office/drawing/2014/main" id="{0D97739C-F94D-4225-A482-B94D4D47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PROPOSED 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4C817E-EF65-47EB-BDC6-F8A738D3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4287A0-577B-4FA8-B7DF-6F90650D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Camera-intrinsics-aware monocular depth estimation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1AEACF-66F3-45CB-B79B-D45B3FEC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127BF-7656-4CDE-A4AD-72EEB773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The camera path is short and testable: K becomes a token injected into the decoder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ADA216-4E00-4D71-AB5C-6AD9615C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9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65BF06-185F-43B0-B846-00CBDD72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38375"/>
            <a:ext cx="419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66DBB4-F194-4F42-A8C7-27D23E3B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95525"/>
            <a:ext cx="228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BEBF33-6162-44BE-86BD-CECF2D7B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622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INPUTS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B4DAAB-1C83-49CA-BBDB-4953CB16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47875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4C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7885AD-5F23-4498-AF0E-A01471CB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38375"/>
            <a:ext cx="419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81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1AAAD7-CC08-45F2-861B-640709F5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95525"/>
            <a:ext cx="228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22F16C-7335-4546-B144-BDB1D166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7622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ENCODE + FUSE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3578C2-F204-4319-B4DE-2C8A4B29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47875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9D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BDD923-FAA1-413A-ACF0-3563E4E7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238375"/>
            <a:ext cx="419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76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FDC94B-5154-4C0B-8093-460EC72B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95525"/>
            <a:ext cx="228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EE968E-81A0-4FCF-B6E6-A41B80BB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622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OUTPUT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A866DD-BE20-4E67-9816-3A27EBFEB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3375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RGB image</a:t>
            </a:r>
          </a:p>
          <a:p xmlns:a="http://schemas.openxmlformats.org/drawingml/2006/main">
            <a:pPr algn="l">
              <a:def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+ normalized 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BDFB51-86D2-450E-9B39-F5836F71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71825"/>
            <a:ext cx="2286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MLP camera token</a:t>
            </a:r>
          </a:p>
          <a:p xmlns:a="http://schemas.openxmlformats.org/drawingml/2006/main">
            <a:pPr algn="l">
              <a:defRPr sz="135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+ DPT / ViT features</a:t>
            </a:r>
          </a:p>
          <a:p xmlns:a="http://schemas.openxmlformats.org/drawingml/2006/main">
            <a:pPr algn="l">
              <a:defRPr sz="135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+ decoder fusion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214794-9F41-4C5B-9CA1-EDB064EC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33375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Relative or metric</a:t>
            </a:r>
          </a:p>
          <a:p xmlns:a="http://schemas.openxmlformats.org/drawingml/2006/main">
            <a:pPr algn="l">
              <a:def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depth map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6E98EF-FC9B-4869-B453-596213F4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443157-55ED-40D5-BC4A-BE402EDC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38500"/>
            <a:ext cx="76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81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4A1C32-F068-422B-BEA6-DC41FDD2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95875"/>
            <a:ext cx="876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The knockout test asks whether the output actually depends on K—not merely whether K was provided.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45BD3E-1B18-4AAA-AF6F-E34F2573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57925"/>
            <a:ext cx="1047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Implementation: camera-aware model path and training pipeline</a:t>
            </a:r>
          </a:p>
        </p:txBody>
      </p:sp>
    </p:spTree>
    <p:extLst>
      <p:ext uri="{BB962C8B-B14F-4D97-AF65-F5344CB8AC3E}">
        <p14:creationId xmlns:p14="http://schemas.microsoft.com/office/powerpoint/2010/main" val="76776305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D9954E-3289-4A5D-AE25-6E9C5FB6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4-marker">
            <a:extLst xmlns:a="http://schemas.openxmlformats.org/drawingml/2006/main">
              <a:ext uri="{FF2B5EF4-FFF2-40B4-BE49-F238E27FC236}">
                <a16:creationId xmlns:a16="http://schemas.microsoft.com/office/drawing/2014/main" id="{A713EBC0-2EC5-4697-A972-D1505680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4-label">
            <a:extLst xmlns:a="http://schemas.openxmlformats.org/drawingml/2006/main">
              <a:ext uri="{FF2B5EF4-FFF2-40B4-BE49-F238E27FC236}">
                <a16:creationId xmlns:a16="http://schemas.microsoft.com/office/drawing/2014/main" id="{5ACD6BAB-B27F-4712-AED4-B42B698A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EXPERIMENTAL JOURNEY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3F04DA-0438-47F5-8F3F-F1B88837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35F717-E10E-4E84-A28D-8D0B909F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Camera-intrinsics-aware monocular depth estimation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0D719E-29CF-4387-839B-A9AEA561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5C5ADB-A44F-485A-9839-B6C5BA4A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Six successive corrections—not one lucky run—created the credible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40FB95-D193-497E-B25E-362F60C9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86125"/>
            <a:ext cx="9763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970BEB-6BAD-460B-8F6F-D46E0F70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5D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2D25E3-80D3-466C-8456-C6CA10214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52775"/>
            <a:ext cx="381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3380A8-AA88-4DFD-ACBD-1575756E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14750"/>
            <a:ext cx="1428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Rebuild baseline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12E4B1-79F7-498E-80C5-A2CF9974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576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split + protocol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D67550-7DFD-42DF-B332-A18F0225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048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5D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893CBA-5A23-4529-8DD1-D7BEA240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52775"/>
            <a:ext cx="381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D73063-6EE2-4C3C-98C3-ECC6FF8E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714750"/>
            <a:ext cx="1428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Find leakage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8BD5B2-1924-462C-937F-FA5A37F7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0576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527 / 654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1091C6-E1C4-4902-BF4F-85C22D12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5D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0A3654-5A99-4C4B-8D09-9F0DE70A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152775"/>
            <a:ext cx="381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D63F99-5C07-409B-BDFF-C22E56CB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14750"/>
            <a:ext cx="1428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Fail zero-shot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00302F-E911-40A0-93A2-08F101388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576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change course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F60F05-9203-46AB-9C6D-2146E568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048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381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FA83CD-201F-4736-B27B-603D21FF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52775"/>
            <a:ext cx="381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0CA99A-F1A6-43CC-802F-950B3EA4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14750"/>
            <a:ext cx="1428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Repair ViT-L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8AF71C-D10D-42AE-9F55-110126A9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576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depth ↔ disparity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6368F7-6762-458D-B2EA-60119B48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48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381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99BB81-A96C-498B-808F-1097DA59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152775"/>
            <a:ext cx="381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19F767-8759-48F9-8CC2-D6238C21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14750"/>
            <a:ext cx="1428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Exact geometry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527002-8CBA-45E3-B849-5BDC6D7A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576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zoom-crop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54DB7E-4CF1-456B-A69E-5B9890882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3048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6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F5EA16-8983-4ED8-A03E-53670DF3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152775"/>
            <a:ext cx="381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FBDDF5-B269-4085-AA58-43308BE3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3714750"/>
            <a:ext cx="1428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Causal proof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CDC03F-F9A0-404E-A093-E2B8C6BF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0576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jitter + knockout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1D4CDA-D077-4DB5-9693-3CADBFE83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43125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B95D4B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B95D4B"/>
                </a:solidFill>
                <a:latin typeface="Avenir Next"/>
                <a:ea typeface="Avenir Next"/>
                <a:cs typeface="Avenir Next"/>
              </a:rPr>
              <a:t>Protocol validity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D1DEE9-88DE-4D8C-A85F-E9C224A5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43125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3812A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C3812A"/>
                </a:solidFill>
                <a:latin typeface="Avenir Next"/>
                <a:ea typeface="Avenir Next"/>
                <a:cs typeface="Avenir Next"/>
              </a:rPr>
              <a:t>Output-contract validity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7E6B72-D9C7-4240-BCE6-DC33F637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43125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Causal validity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9A4022-BE70-46D3-A589-851A6C31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53000"/>
            <a:ext cx="7239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C4C429-D954-4420-BE4B-2F30A7A1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076825"/>
            <a:ext cx="6896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Observation → interpretation → decision → controlled action → result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E87F32-D5B8-454A-B100-84883AD80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57925"/>
            <a:ext cx="1047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Source: experimental journey summarized in Table 4.3</a:t>
            </a:r>
          </a:p>
        </p:txBody>
      </p:sp>
    </p:spTree>
    <p:extLst>
      <p:ext uri="{BB962C8B-B14F-4D97-AF65-F5344CB8AC3E}">
        <p14:creationId xmlns:p14="http://schemas.microsoft.com/office/powerpoint/2010/main" val="13180899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A10322-EF68-40F0-A411-6E7726C1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5-marker">
            <a:extLst xmlns:a="http://schemas.openxmlformats.org/drawingml/2006/main">
              <a:ext uri="{FF2B5EF4-FFF2-40B4-BE49-F238E27FC236}">
                <a16:creationId xmlns:a16="http://schemas.microsoft.com/office/drawing/2014/main" id="{84387778-B903-4292-874D-C14ADD089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5-label">
            <a:extLst xmlns:a="http://schemas.openxmlformats.org/drawingml/2006/main">
              <a:ext uri="{FF2B5EF4-FFF2-40B4-BE49-F238E27FC236}">
                <a16:creationId xmlns:a16="http://schemas.microsoft.com/office/drawing/2014/main" id="{C18314BB-67D2-498F-BBA9-25BCE572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VALIDITY FAILURE #1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0C4E3E-ED64-425D-AC91-B076DB8C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7CBC60-572A-46BC-BC1E-9EE2635F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Camera-intrinsics-aware monocular depth estimation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6D429-3E98-48FC-BE17-CA897B16B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DDA44-4D3B-4637-AC6E-F2D2677C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Leakage and zero-shot failure exposed a protocol problem—not a refutation of 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0D113E-05FC-4915-85D3-18F393625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342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B95D4B"/>
                </a:solidFill>
                <a:latin typeface="Avenir Next"/>
                <a:ea typeface="Avenir Next"/>
                <a:cs typeface="Avenir Next"/>
              </a:defRPr>
            </a:pPr>
            <a:r>
              <a:rPr sz="4500" b="1">
                <a:solidFill>
                  <a:srgbClr val="B95D4B"/>
                </a:solidFill>
                <a:latin typeface="Avenir Next"/>
                <a:ea typeface="Avenir Next"/>
                <a:cs typeface="Avenir Next"/>
              </a:rPr>
              <a:t>80.6%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162C1E-860B-4BE3-8EA2-16921D43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86050"/>
            <a:ext cx="4000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527 of 654 Eigen-test images</a:t>
            </a:r>
          </a:p>
          <a:p xmlns:a="http://schemas.openxmlformats.org/drawingml/2006/main">
            <a:pPr algn="l">
              <a:defRPr sz="1425" b="0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appeared in the old training 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F3C995-A2D2-46C0-BC62-02E1CB1E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097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KITTI zero-shot | AbsRel (lower is better)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F9EBB6-D802-43F0-AA55-47A00778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2887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DA2 baseline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7FB9A-802F-4C41-80B5-B05F1D61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47925"/>
            <a:ext cx="806788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76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7A5CB1-7326-4028-86C0-23502E8A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28875"/>
            <a:ext cx="5238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0.0829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1B343-31F2-4239-99B8-8992E529F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480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Proposed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F54CC3-5208-438E-BD2C-DBBB78D9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67075"/>
            <a:ext cx="2081689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5D3C13-61F9-4F51-9784-37784805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48025"/>
            <a:ext cx="5238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0.2139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BDD5B9-9D04-4394-929A-6897454B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6717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Control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1EB662-746D-4D41-9979-04E44F90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86225"/>
            <a:ext cx="2074876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08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39326C-164C-4259-9751-C0CCD829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67175"/>
            <a:ext cx="5238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0.2132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21FD93-42D4-485A-81E7-F7F47CE5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905375"/>
            <a:ext cx="10001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4C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65ADF2-75CF-4AC0-B29F-123E03E4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5029200"/>
            <a:ext cx="965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Decision: rebuild a leak-free split and use controlled matched arms. The zero-shot result remains documented as a generalization failure.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F27791-4D53-4E2B-84A8-5FF748BF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57925"/>
            <a:ext cx="1047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Source: §4.5.1 and the NYU/KITTI protocol reconstruction</a:t>
            </a:r>
          </a:p>
        </p:txBody>
      </p:sp>
    </p:spTree>
    <p:extLst>
      <p:ext uri="{BB962C8B-B14F-4D97-AF65-F5344CB8AC3E}">
        <p14:creationId xmlns:p14="http://schemas.microsoft.com/office/powerpoint/2010/main" val="153661718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A5BD29-F97C-4697-A8D0-540FD2FE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6-marker">
            <a:extLst xmlns:a="http://schemas.openxmlformats.org/drawingml/2006/main">
              <a:ext uri="{FF2B5EF4-FFF2-40B4-BE49-F238E27FC236}">
                <a16:creationId xmlns:a16="http://schemas.microsoft.com/office/drawing/2014/main" id="{62F06986-CC2C-452B-98CD-974CB27D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6-label">
            <a:extLst xmlns:a="http://schemas.openxmlformats.org/drawingml/2006/main">
              <a:ext uri="{FF2B5EF4-FFF2-40B4-BE49-F238E27FC236}">
                <a16:creationId xmlns:a16="http://schemas.microsoft.com/office/drawing/2014/main" id="{A9A09FDA-A5CD-4E8F-B434-E39C3A2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VALIDITY FAILURE #2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07DB92-8253-4E3F-BA77-98BC7260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73454E-7D93-4801-A938-E806033F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Camera-intrinsics-aware monocular depth estimation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C82AFA-4A0E-4786-88B3-86EA47AB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8D83E1-E643-45EA-A72C-80235FBB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ViT-L collapse was not a learning-rate problem; the depth/disparity contract was broken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3F6EC6-929F-4F08-A086-E8D63992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09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956712-FF2A-4C9F-A563-64B9261C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971675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5D4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B95D4B"/>
                </a:solidFill>
                <a:latin typeface="Avenir Next"/>
                <a:ea typeface="Avenir Next"/>
                <a:cs typeface="Avenir Next"/>
              </a:rPr>
              <a:t>SYMPTOM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722A57-BD2C-4C45-8FE1-C596FB639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52625"/>
            <a:ext cx="676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Near-zero output; AbsRel ≈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9FA7E6-50A3-41EC-B57C-F8A61ACE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336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4C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2DB4FD-D53F-45F8-9792-CC0FC3FD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95575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3812A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C3812A"/>
                </a:solidFill>
                <a:latin typeface="Avenir Next"/>
                <a:ea typeface="Avenir Next"/>
                <a:cs typeface="Avenir Next"/>
              </a:rPr>
              <a:t>REJECTED FIX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9DF6A8-E36B-4476-A2CB-5AE61293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76525"/>
            <a:ext cx="676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Lower head LR and warmup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39016D-C502-4C27-8A7A-15A28CC0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575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9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77A267-5DA4-4DD7-B49F-9FF4B6FC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19475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ROOT CAUSE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017FE8-FF0A-4B89-B64F-D043C24D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00425"/>
            <a:ext cx="676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Pretrained output = disparity; target = depth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A742D8-B38C-44BE-9F53-9BE3B754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814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63E8F5-82EA-4184-BD58-24FC7BE69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43375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5D4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B95D4B"/>
                </a:solidFill>
                <a:latin typeface="Avenir Next"/>
                <a:ea typeface="Avenir Next"/>
                <a:cs typeface="Avenir Next"/>
              </a:rPr>
              <a:t>FAILURE MODE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8178D5-125B-4785-855F-D0F0EF08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24325"/>
            <a:ext cx="676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ReLU + clamp → dead gradients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0AB527-3F4C-44D9-B86C-B9182029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9D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4C9EA8-A004-4BE8-88E0-2BEA14C5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67275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REPAIR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9FB288-76F3-423E-A38B-2E762FEC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848225"/>
            <a:ext cx="6762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target = 1/depth + consistent validation + metadata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30BE0B-43F0-453B-8AA9-D5BF1C5E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524500"/>
            <a:ext cx="885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Engineering lesson: verify semantic contracts at pipeline boundaries before tuning hyperparameters.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2E1868-DDD2-4CD0-8BA4-24FFB7AD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57925"/>
            <a:ext cx="1047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Source: training/validation code, checkpoint metadata, and ViT-L repair notes</a:t>
            </a:r>
          </a:p>
        </p:txBody>
      </p:sp>
    </p:spTree>
    <p:extLst>
      <p:ext uri="{BB962C8B-B14F-4D97-AF65-F5344CB8AC3E}">
        <p14:creationId xmlns:p14="http://schemas.microsoft.com/office/powerpoint/2010/main" val="7882042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421A85-82B6-41FE-A61A-E90A64A1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7-marker">
            <a:extLst xmlns:a="http://schemas.openxmlformats.org/drawingml/2006/main">
              <a:ext uri="{FF2B5EF4-FFF2-40B4-BE49-F238E27FC236}">
                <a16:creationId xmlns:a16="http://schemas.microsoft.com/office/drawing/2014/main" id="{D7AF0BC2-53F5-4BD9-8691-C12CFAD6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7-label">
            <a:extLst xmlns:a="http://schemas.openxmlformats.org/drawingml/2006/main">
              <a:ext uri="{FF2B5EF4-FFF2-40B4-BE49-F238E27FC236}">
                <a16:creationId xmlns:a16="http://schemas.microsoft.com/office/drawing/2014/main" id="{38FFB35C-894C-4383-99EB-680D0B6C3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FAIR EXPERIMENT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FE1794-70F5-49D4-8623-C9A757B6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3C3FAA-3351-470D-8321-FF2641DF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Camera-intrinsics-aware monocular depth estimation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156B2A-5B55-4F68-AC92-62EF703F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DA023E-8005-4508-9FE1-7EF2C4DAA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Access to K was the only intended difference between the two matched arms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01B8F7-1869-4029-8288-C3D1CE167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52625"/>
            <a:ext cx="4762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9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24E7B2-9FB4-4CA3-BB82-BB6BD4D1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952625"/>
            <a:ext cx="4762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6E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4CA4A4-9C91-4EE9-8D32-767B11FA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23837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PROPOSED ARM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FC2158-6752-498A-98FB-2565057F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238375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CONTROL ARM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652B67-23B5-4F34-A94E-40700E12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00375"/>
            <a:ext cx="3810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RGB + correct K</a:t>
            </a:r>
          </a:p>
          <a:p xmlns:a="http://schemas.openxmlformats.org/drawingml/2006/main">
            <a:pPr algn="l">
              <a:def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camera token enabled</a:t>
            </a:r>
          </a:p>
          <a:p xmlns:a="http://schemas.openxmlformats.org/drawingml/2006/main">
            <a:pPr algn="l">
              <a:def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same initialization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AC082-CC5E-4795-81B8-AB5B33542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00375"/>
            <a:ext cx="3810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RGB + fixed reference K</a:t>
            </a:r>
          </a:p>
          <a:p xmlns:a="http://schemas.openxmlformats.org/drawingml/2006/main">
            <a:pPr algn="l">
              <a:def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camera information withheld</a:t>
            </a:r>
          </a:p>
          <a:p xmlns:a="http://schemas.openxmlformats.org/drawingml/2006/main">
            <a:pPr algn="l">
              <a:def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same initialization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4EAEE6-9FF7-45C0-BEBA-BC1CEE3F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28575" cy="2809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81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4A8CB4-6CAC-4A37-8CEA-8D4C16F0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3105150"/>
            <a:ext cx="3619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C3812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C3812A"/>
                </a:solidFill>
                <a:latin typeface="Avenir Next"/>
                <a:ea typeface="Avenir Next"/>
                <a:cs typeface="Avenir Next"/>
              </a:rPr>
              <a:t>ONE</a:t>
            </a:r>
          </a:p>
          <a:p xmlns:a="http://schemas.openxmlformats.org/drawingml/2006/main">
            <a:pPr algn="ctr">
              <a:defRPr sz="825" b="1">
                <a:solidFill>
                  <a:srgbClr val="C3812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C3812A"/>
                </a:solidFill>
                <a:latin typeface="Avenir Next"/>
                <a:ea typeface="Avenir Next"/>
                <a:cs typeface="Avenir Next"/>
              </a:rPr>
              <a:t>DIFFERENCE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780052-DD77-489C-80B8-18662374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2197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992419-38E3-4B48-8C76-5611017D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27685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seed = 42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F794FB-9C9B-4E56-8E4A-800B008E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2197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76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E06B05-4702-4F18-8D43-D0A883A6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27685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same minibatches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32830F-3E81-4234-8A34-CA631DFC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2197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9BF2C2-66F5-4AC6-8379-5CEE8D99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7685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same augmentation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3EF847-F6C6-4850-A5EE-775D2753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2197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76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F95076-FE32-4003-82D9-B009026F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527685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same optimizer + budget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DFF869-EA14-459D-8D5E-0E8E9009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57925"/>
            <a:ext cx="1047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Matched-arm protocol; limitation: one training seed per arm</a:t>
            </a:r>
          </a:p>
        </p:txBody>
      </p:sp>
    </p:spTree>
    <p:extLst>
      <p:ext uri="{BB962C8B-B14F-4D97-AF65-F5344CB8AC3E}">
        <p14:creationId xmlns:p14="http://schemas.microsoft.com/office/powerpoint/2010/main" val="96368399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C5D3ED-C263-4E80-A829-459397FB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8-marker">
            <a:extLst xmlns:a="http://schemas.openxmlformats.org/drawingml/2006/main">
              <a:ext uri="{FF2B5EF4-FFF2-40B4-BE49-F238E27FC236}">
                <a16:creationId xmlns:a16="http://schemas.microsoft.com/office/drawing/2014/main" id="{42586557-11FF-4FBC-BAFD-F2E50B31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8-label">
            <a:extLst xmlns:a="http://schemas.openxmlformats.org/drawingml/2006/main">
              <a:ext uri="{FF2B5EF4-FFF2-40B4-BE49-F238E27FC236}">
                <a16:creationId xmlns:a16="http://schemas.microsoft.com/office/drawing/2014/main" id="{CA245EDE-BC8D-48A1-BF11-978C1EFD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EVIDENCE CHAIN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02FC8A-20E5-47FC-8138-139A3DA0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8DC88-0DA8-4D2A-8929-5BFED268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Camera-intrinsics-aware monocular depth estimation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AA6B80-6190-461C-8D98-CE6B6219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D7006A-529A-4F61-9E41-6F268FF0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Each experiment removed one ambiguity and made the claim narrower—but stronger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3ED4B7-8374-4EDD-BB15-048C90BD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29125"/>
            <a:ext cx="180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D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74D58D-6BB9-4590-976B-3DBC9E7D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5434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90852-E632-4B59-9C49-944C06A0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1857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Relative ViT-L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439941-CA0F-43A8-A2AF-53FFC814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91100"/>
            <a:ext cx="1952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Raw gain; K effect nearly tied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BFA50A-859F-4362-9CE0-5C19D619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1952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95D4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B95D4B"/>
                </a:solidFill>
                <a:latin typeface="Avenir Next"/>
                <a:ea typeface="Avenir Next"/>
                <a:cs typeface="Avenir Next"/>
              </a:rPr>
              <a:t>0.0377 vs 0.0378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EEA975-6593-44ED-9345-B9245D10A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838575"/>
            <a:ext cx="180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81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D99017-8BFB-468B-86B5-201456E2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528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91F414-A709-4FB9-8753-0B52B8F2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467100"/>
            <a:ext cx="1857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Metric zoom-crop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045FE8-7C61-4C8B-BD00-E251FF87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400550"/>
            <a:ext cx="1952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RMSE gap increased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0F7B81-615D-4F09-A133-0AAB5CF5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838700"/>
            <a:ext cx="1952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3812A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C3812A"/>
                </a:solidFill>
                <a:latin typeface="Avenir Next"/>
                <a:ea typeface="Avenir Next"/>
                <a:cs typeface="Avenir Next"/>
              </a:rPr>
              <a:t>0.00545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C361D5-00B4-46A1-8D1F-3B3202D7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48025"/>
            <a:ext cx="180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76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9CBAC5-03BA-48B0-A190-F7DDAE97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623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ED4FBB-FBD5-4F43-AD90-7650D4B6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876550"/>
            <a:ext cx="1857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Focal jitter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BF572C-E53F-4EAD-98A4-3847C92F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10000"/>
            <a:ext cx="1952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5 Holm-significant metrics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32486B-0F6C-413F-90DF-50242F69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248150"/>
            <a:ext cx="1952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17.6% AbsRel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2A1BB2-3F06-4EBE-886C-A6282F50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657475"/>
            <a:ext cx="180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0E71B7-3C4B-4A3E-8BFE-08F79843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717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CDB791-D61A-411B-8DEC-232FDB29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286000"/>
            <a:ext cx="1857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Ablation λ=0.5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052012-AFD9-4855-9573-6A280C13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19450"/>
            <a:ext cx="1952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Jitter is the main cause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A2FA5C-EF25-4911-8D04-4B9351C8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657600"/>
            <a:ext cx="1952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slope = 0.97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E698A7-7D96-4803-89A3-4C221F1A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66925"/>
            <a:ext cx="180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984405-4BA9-45B9-A26F-07F8415D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1812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F0CD5A-3508-4D59-A9FA-1BF7A0FD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695450"/>
            <a:ext cx="1857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Knockout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BB332A-931C-4E4F-AA3C-CA89FF72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28900"/>
            <a:ext cx="1952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Removing K breaks output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49D54B-8E05-46C5-BEE0-8DD3BC50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67050"/>
            <a:ext cx="1952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+59% AbsRel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B0DB43-BD56-4B82-906F-232F57E6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57925"/>
            <a:ext cx="1047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Source: thesis §§4.5.5–4.5.7 and fresh validation reports</a:t>
            </a:r>
          </a:p>
        </p:txBody>
      </p:sp>
    </p:spTree>
    <p:extLst>
      <p:ext uri="{BB962C8B-B14F-4D97-AF65-F5344CB8AC3E}">
        <p14:creationId xmlns:p14="http://schemas.microsoft.com/office/powerpoint/2010/main" val="11314435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592244-2A13-4E7E-853A-079D6237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9-marker">
            <a:extLst xmlns:a="http://schemas.openxmlformats.org/drawingml/2006/main">
              <a:ext uri="{FF2B5EF4-FFF2-40B4-BE49-F238E27FC236}">
                <a16:creationId xmlns:a16="http://schemas.microsoft.com/office/drawing/2014/main" id="{7EEA5E52-C409-4186-889F-B331514C2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9-label">
            <a:extLst xmlns:a="http://schemas.openxmlformats.org/drawingml/2006/main">
              <a:ext uri="{FF2B5EF4-FFF2-40B4-BE49-F238E27FC236}">
                <a16:creationId xmlns:a16="http://schemas.microsoft.com/office/drawing/2014/main" id="{70AEC774-77F6-4C70-B87C-500CAC6A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MAIN RESULT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9C7559-06EC-4C79-89B0-B5327AD7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C060D6-B363-4885-9B7E-FD1F1EAA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Camera-intrinsics-aware monocular depth estimation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F331FA-83B7-40C8-95C9-D854A30B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6E9A0-2370-491E-8007-17888C43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Focal jitter improved all five metrics and survived Holm correction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7CD4BE-C95C-4D6F-9D5E-397209136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857375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PROPOSED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ACCC0-8849-40D4-BE19-6655394DE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57375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CONTROL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43C88-A2AB-416E-B1C4-C5870BFF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90750"/>
            <a:ext cx="1047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AbsRel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BEF03D-BEBD-4B85-92A6-516A2523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209800"/>
            <a:ext cx="1961212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251DB-F614-4B26-8AE5-EA16EA26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4669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08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76EFF2-760F-466F-B31B-7E2F7576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90750"/>
            <a:ext cx="647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0.0849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76E916-8E06-4C46-8532-E7E4EEB1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47925"/>
            <a:ext cx="647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0.1030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BECA1C-5763-4A91-8D96-FFD27A60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479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17.64%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E3F255-8FBB-4CA8-BA95-21A8197C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3241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error reduction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E8671D-0857-4ED6-804E-C2731364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914650"/>
            <a:ext cx="1047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RMSE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49909B-57AC-400D-83CE-61A9BB50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933700"/>
            <a:ext cx="2130923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AA9AB4-E19A-4DDD-B2BE-6A170B9F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1908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08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723954-E8BA-4AA2-A0B4-F5B08609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14650"/>
            <a:ext cx="647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0.3071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013BB0-5231-4979-8CBC-C64DF78E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71825"/>
            <a:ext cx="647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0.3431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432BAD-1B0F-4F7C-A998-F71ED71C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718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10.51%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3FB9D5-43B5-46C6-AF35-D802CE72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480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error reduction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A56DE0-9C28-45D7-95CC-F8128D59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638550"/>
            <a:ext cx="1047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δ1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A489F6-6F9B-49D2-87B2-5DC416E4F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65760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1BE87E-B933-4716-9100-A2B41A0A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914775"/>
            <a:ext cx="230761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08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056B68-19E9-489E-BAC3-7F8C974F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38550"/>
            <a:ext cx="647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0.9520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16B5F7-7CDE-42AF-8BE4-CC7B8B622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95725"/>
            <a:ext cx="647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0.9226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8B19E9-482C-44E0-96F2-97E2D4EF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3.19%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624697-FD3A-4738-830D-9C98E0A2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accuracy increase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32A627-1BA3-432C-ABB0-89C83BCC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362450"/>
            <a:ext cx="1047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SILog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C0C3101-2A17-445E-9207-495938432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381500"/>
            <a:ext cx="214771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31E9BA-8B71-46E1-B764-C1DF4499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6386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08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86CAE62-FCD8-47A6-A3BA-EE65A89D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647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0.0942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6F11F9-DA40-41A5-B1B5-4C2A9BC1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647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0.1045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2E4397-DD9E-4534-A9B6-19A6E4FC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196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9.81%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15195E-F70F-4892-BA0F-54AD3F47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958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error reduction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334BC5-66EC-4137-A205-63EFFD60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5086350"/>
            <a:ext cx="1047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log10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34EEFC-C8A4-418C-9DDB-5D6BBAA7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105400"/>
            <a:ext cx="202108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4102E8D-3433-4152-A5C5-AC8B85F0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3625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08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565C32-E739-47C8-B287-1A63A1F5D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86350"/>
            <a:ext cx="647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0.0363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0CE51F-0CBE-400A-A1AB-3E2D8331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43525"/>
            <a:ext cx="647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0.0427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289303D-DB51-4B94-A460-40826A585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435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15.13%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6DB084C-702F-4AFB-BDEB-980B40F1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2197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error reduction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45FB7F-E4C1-453C-8996-BD2635B8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476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9D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F2D7058-0FAA-42DC-89FB-B995592A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762625"/>
            <a:ext cx="4419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All differences remain significant after Holm correction.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AC3C4AA-CE02-43B3-AB22-CEFF1A2D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57925"/>
            <a:ext cx="1047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Final focal-jitter evaluation; exact values in the comprehensive guide</a:t>
            </a:r>
          </a:p>
        </p:txBody>
      </p:sp>
    </p:spTree>
    <p:extLst>
      <p:ext uri="{BB962C8B-B14F-4D97-AF65-F5344CB8AC3E}">
        <p14:creationId xmlns:p14="http://schemas.microsoft.com/office/powerpoint/2010/main" val="20654969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298067-8713-4CC1-A679-E9EE3026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0-marker">
            <a:extLst xmlns:a="http://schemas.openxmlformats.org/drawingml/2006/main">
              <a:ext uri="{FF2B5EF4-FFF2-40B4-BE49-F238E27FC236}">
                <a16:creationId xmlns:a16="http://schemas.microsoft.com/office/drawing/2014/main" id="{2DD32DEB-8ED9-4ED3-B4D7-58A63358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0-label">
            <a:extLst xmlns:a="http://schemas.openxmlformats.org/drawingml/2006/main">
              <a:ext uri="{FF2B5EF4-FFF2-40B4-BE49-F238E27FC236}">
                <a16:creationId xmlns:a16="http://schemas.microsoft.com/office/drawing/2014/main" id="{EA30BEE6-A6BD-482C-963B-5F865F22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RESPONSE TO 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57F0A4-E03B-4FE8-AF49-51A9E5F7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6C66B5-97D9-446D-B231-4D4C9B7B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Camera-intrinsics-aware monocular depth estimation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9F6A50-B273-4F64-800D-7427DD493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3716B-62DE-4247-9AC6-3A4C7EEF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After focal jitter, the model response to K approached the ideal slope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DE02DD-A16E-45D7-9DA8-0D5339D3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IDEAL SLOPE = 1.00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29CF45-783B-4EE9-ABA2-E1BAD3F1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334000"/>
            <a:ext cx="838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8EBA9B-48F4-4A3A-B8DF-F68F7D9B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076450"/>
            <a:ext cx="190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F4915A-510D-4A60-996F-7DE73444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48300"/>
            <a:ext cx="428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0.00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CBF808-3C65-4AA6-A0D1-C4366F3D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76450"/>
            <a:ext cx="190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D97E9F-8A61-4C9A-A719-3C0CE0B8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448300"/>
            <a:ext cx="428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0.25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D5AE36-0979-424D-83FE-425A94D7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76450"/>
            <a:ext cx="190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7BC19A-0637-4A00-AADB-E16DB98C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448300"/>
            <a:ext cx="428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0.50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EF4D43-727D-4B24-89B1-00148FB0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76450"/>
            <a:ext cx="190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1B5E91-B7AD-435A-A809-08F30E03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448300"/>
            <a:ext cx="428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0.75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6A4D50-788D-4C21-92A7-6E5E6300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076450"/>
            <a:ext cx="190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8818C9-65B9-4802-ADBD-64BB2522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448300"/>
            <a:ext cx="428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1.00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450C48-C112-409D-96AB-8A9803B4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38375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Control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F1350A-AD99-4C9A-B2A6-FE3D73B21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14600"/>
            <a:ext cx="38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08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1DAF31-D698-471B-B893-8580AB99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14600"/>
            <a:ext cx="590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0.00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3D7116-1010-4F6C-8494-DF6E29BD1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24175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Metric round 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6D01ED-CA16-4D68-A1AE-1A825296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00400"/>
            <a:ext cx="50292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81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FE9ACC-0491-4A32-BECD-D553FC8DD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00400"/>
            <a:ext cx="590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3812A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C3812A"/>
                </a:solidFill>
                <a:latin typeface="Avenir Next"/>
                <a:ea typeface="Avenir Next"/>
                <a:cs typeface="Avenir Next"/>
              </a:rPr>
              <a:t>0.06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753E5A-4F08-4268-B4D4-453AFFD8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09975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Focal jitter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C662F9-BC4D-4531-92FB-5B1880A7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886200"/>
            <a:ext cx="779526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76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563348-C39E-441A-99CD-A7E9FD4A5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86200"/>
            <a:ext cx="590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0.93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A8D4F6-2BDB-48A6-A249-0339287B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95775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Ablation λ=0.5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9D6AFF-AD51-4A2D-95F0-0E8A4311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572000"/>
            <a:ext cx="813054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6E7227-A850-4C53-A680-706F19B3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72000"/>
            <a:ext cx="590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0.97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CFC20C-9FF9-4DC0-8511-D1D37698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000250"/>
            <a:ext cx="285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9B4914-E8F8-49B6-BE2E-16F428BB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809750"/>
            <a:ext cx="428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1.0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6187F9-B6AB-46A7-A64C-56ECA66A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743575"/>
            <a:ext cx="7334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9D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F71BC7-BB56-4EA7-9A9C-EBEB10AC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867400"/>
            <a:ext cx="6991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Interpretation: the network learned how changes in K should change output scale.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5AE2E5-FF34-45B8-8322-76E3DBC1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57925"/>
            <a:ext cx="1047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K-sweep slope ± CI from §§4.5.6–4.5.7 validation</a:t>
            </a:r>
          </a:p>
        </p:txBody>
      </p:sp>
    </p:spTree>
    <p:extLst>
      <p:ext uri="{BB962C8B-B14F-4D97-AF65-F5344CB8AC3E}">
        <p14:creationId xmlns:p14="http://schemas.microsoft.com/office/powerpoint/2010/main" val="157284460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C951A5-E562-480F-B241-2DF7C7DB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1-marker">
            <a:extLst xmlns:a="http://schemas.openxmlformats.org/drawingml/2006/main">
              <a:ext uri="{FF2B5EF4-FFF2-40B4-BE49-F238E27FC236}">
                <a16:creationId xmlns:a16="http://schemas.microsoft.com/office/drawing/2014/main" id="{7FDECB21-3D3C-4261-B215-AC244204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1-label">
            <a:extLst xmlns:a="http://schemas.openxmlformats.org/drawingml/2006/main">
              <a:ext uri="{FF2B5EF4-FFF2-40B4-BE49-F238E27FC236}">
                <a16:creationId xmlns:a16="http://schemas.microsoft.com/office/drawing/2014/main" id="{0D95B653-FDFC-4013-B179-5E7D9CF5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NECESSITY OF 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871B2-B6FC-468C-AA40-731354FD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7F1A00-8028-4106-BD25-A6A0303F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Camera-intrinsics-aware monocular depth estimation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FE6535-362F-4EAE-8EFE-C9B8C5B5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AC003-4F95-4CBC-823C-8BF657E0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Removing or deliberately corrupting K sharply increased error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B5C6FB-D91C-4803-A995-961C885A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AbsRel — lower is better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3ED14E-BDD1-40EC-8CE5-1D2EEDA8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860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Correct 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C16CEA-40DF-44DA-9AF8-B17A4FCA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295525"/>
            <a:ext cx="136906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76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3D395C-B9BB-40AF-8173-0C15AB8D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14575"/>
            <a:ext cx="742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0.0924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472BE5-FD4F-4308-BE9E-953447E3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6705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K withheld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6066FA-91FD-489F-AEDE-1079DD9F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076575"/>
            <a:ext cx="217360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81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9B9B2E-FE32-43C4-A59A-B8DCFB91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5625"/>
            <a:ext cx="742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3812A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C3812A"/>
                </a:solidFill>
                <a:latin typeface="Avenir Next"/>
                <a:ea typeface="Avenir Next"/>
                <a:cs typeface="Avenir Next"/>
              </a:rPr>
              <a:t>0.1467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F28051-6D6B-45CD-B8F8-E569AB51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481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f × 0.7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D070C9-7213-4030-8939-B50454B6A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57625"/>
            <a:ext cx="4277572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D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2E4B95-C7A5-44F8-A336-F3163F51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6675"/>
            <a:ext cx="742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5D4B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B95D4B"/>
                </a:solidFill>
                <a:latin typeface="Avenir Next"/>
                <a:ea typeface="Avenir Next"/>
                <a:cs typeface="Avenir Next"/>
              </a:rPr>
              <a:t>0.2887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201D60-B808-4D62-A39C-5C1B19E1A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62915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f × 1.4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73DE33-E90D-4BC9-9658-6905499B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38675"/>
            <a:ext cx="6332643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957523-DE1C-4D3A-9AEA-E2187EDB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7725"/>
            <a:ext cx="742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0.4274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174968-62A0-4006-B0F6-3C917FF5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1190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3812A"/>
                </a:solidFill>
                <a:latin typeface="Avenir Next"/>
                <a:ea typeface="Avenir Next"/>
                <a:cs typeface="Avenir Next"/>
              </a:defRPr>
            </a:pPr>
            <a:r>
              <a:rPr sz="2325" b="1">
                <a:solidFill>
                  <a:srgbClr val="C3812A"/>
                </a:solidFill>
                <a:latin typeface="Avenir Next"/>
                <a:ea typeface="Avenir Next"/>
                <a:cs typeface="Avenir Next"/>
              </a:rPr>
              <a:t>+59%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005988-6399-4422-A1BF-86C5B2D5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572125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9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749C22-9E05-444F-AE67-36CE0F6D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695950"/>
            <a:ext cx="7467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This test shows direct functional dependence on K more clearly than a simple two-model comparison.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8AC021-3D3E-4A6D-A120-93784800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57925"/>
            <a:ext cx="1047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Knockout / wrong-K; full RMSE and δ1 values are in the comprehensive guide</a:t>
            </a:r>
          </a:p>
        </p:txBody>
      </p:sp>
    </p:spTree>
    <p:extLst>
      <p:ext uri="{BB962C8B-B14F-4D97-AF65-F5344CB8AC3E}">
        <p14:creationId xmlns:p14="http://schemas.microsoft.com/office/powerpoint/2010/main" val="91210396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1E2CF6-D390-463E-B949-A4E9D456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2-marker">
            <a:extLst xmlns:a="http://schemas.openxmlformats.org/drawingml/2006/main">
              <a:ext uri="{FF2B5EF4-FFF2-40B4-BE49-F238E27FC236}">
                <a16:creationId xmlns:a16="http://schemas.microsoft.com/office/drawing/2014/main" id="{6FD44063-DE46-4AC1-85E1-0E520E76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2-label">
            <a:extLst xmlns:a="http://schemas.openxmlformats.org/drawingml/2006/main">
              <a:ext uri="{FF2B5EF4-FFF2-40B4-BE49-F238E27FC236}">
                <a16:creationId xmlns:a16="http://schemas.microsoft.com/office/drawing/2014/main" id="{9F7AF3CD-AEB0-4F8C-B746-638ACCB9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SCIENTIFIC 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2E764B-9E6D-4B74-9A17-9ED7BD4F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D295C1-6CA5-4274-802D-13DC413F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Camera-intrinsics-aware monocular depth estimation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546765-D5B4-4FE6-A36A-24FD2C2A0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A52AE6-264B-4C15-B48D-A9ED3A9E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The main contribution is a controlled evidence chain—with explicit claim boundaries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1DF550-9545-4FBB-8552-B43D99AF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51911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9D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2910FA-59C0-4FB7-9494-ABED3D47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1911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8F8200-44ED-4D30-A1A9-C79494B3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WHAT THE EVIDENCE SUPPORTS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901F68-8FDB-453C-BFB7-3B66EF28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14625"/>
            <a:ext cx="4476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• K-aware camera-token architecture</a:t>
            </a:r>
          </a:p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• geometrically exact zoom-crop</a:t>
            </a:r>
          </a:p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• physical focal jitter + matched arms</a:t>
            </a:r>
          </a:p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• significant improvement in five metrics</a:t>
            </a:r>
          </a:p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• K-sweep and knockout evidence of K use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9EE7BF-261B-431F-BE10-20E8BA41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09550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95D4B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B95D4B"/>
                </a:solidFill>
                <a:latin typeface="Avenir Next"/>
                <a:ea typeface="Avenir Next"/>
                <a:cs typeface="Avenir Next"/>
              </a:rPr>
              <a:t>WHAT WE SHOULD NOT OVERCLAIM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B62F7D-5719-4738-936B-AB5D0D93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714625"/>
            <a:ext cx="4476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• one training seed per arm</a:t>
            </a:r>
          </a:p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• image-level tests do not estimate training variance</a:t>
            </a:r>
          </a:p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• Middlebury is not a causal focal test</a:t>
            </a:r>
          </a:p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• final fine-tuning is supervised</a:t>
            </a:r>
          </a:p>
          <a:p xmlns:a="http://schemas.openxmlformats.org/drawingml/2006/main">
            <a:pPr algn="l">
              <a:def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• cross-domain generalization remains unresolved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C1690E-083E-458F-B5F4-BCDFA24D9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572125"/>
            <a:ext cx="542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30BD86-4853-4375-8C63-7455C153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5695950"/>
            <a:ext cx="50863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 more precise claim makes a stronger defense.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3A628B-FA03-4F13-B730-3E2D6743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57925"/>
            <a:ext cx="1047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Source: Chapter 5 conclusions and statistical-validity limitations</a:t>
            </a:r>
          </a:p>
        </p:txBody>
      </p:sp>
    </p:spTree>
    <p:extLst>
      <p:ext uri="{BB962C8B-B14F-4D97-AF65-F5344CB8AC3E}">
        <p14:creationId xmlns:p14="http://schemas.microsoft.com/office/powerpoint/2010/main" val="177121946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E26C1A-F525-4A77-AF82-B7259D6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3-marker">
            <a:extLst xmlns:a="http://schemas.openxmlformats.org/drawingml/2006/main">
              <a:ext uri="{FF2B5EF4-FFF2-40B4-BE49-F238E27FC236}">
                <a16:creationId xmlns:a16="http://schemas.microsoft.com/office/drawing/2014/main" id="{BC27FAB4-8F51-4239-82B1-C7F51696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3-label">
            <a:extLst xmlns:a="http://schemas.openxmlformats.org/drawingml/2006/main">
              <a:ext uri="{FF2B5EF4-FFF2-40B4-BE49-F238E27FC236}">
                <a16:creationId xmlns:a16="http://schemas.microsoft.com/office/drawing/2014/main" id="{C79503AA-E8D5-41FF-85F8-EADDB766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"/>
            <a:ext cx="438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DEFENSE READINESS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4D2D3-1AD8-444F-9D5F-0DDFB14F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4C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C41E7B-1CC9-4D46-997E-84EFF760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685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Camera-intrinsics-aware monocular depth estimation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621735-FBE8-4A50-8B77-EF215E688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C10CC7-3382-4D1B-A794-8F0CD68F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2775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Three difficult questions have direct, evidence-backed answers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AFC13E-8D48-4864-A0AE-0B4EE000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1047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656D8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2656D8"/>
                </a:solidFill>
                <a:latin typeface="Avenir Next"/>
                <a:ea typeface="Avenir Next"/>
                <a:cs typeface="Avenir Next"/>
              </a:rPr>
              <a:t>How do you know the gain comes from K?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0D3BE4-0EBD-4946-8545-800E78EA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57425"/>
            <a:ext cx="1047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56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2F1518-47A4-4785-9C6D-38720323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57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Matched arms + ablation + K-sweep + knockout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908056-F378-4E27-BC97-F23FB4DE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1047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3812A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C3812A"/>
                </a:solidFill>
                <a:latin typeface="Avenir Next"/>
                <a:ea typeface="Avenir Next"/>
                <a:cs typeface="Avenir Next"/>
              </a:rPr>
              <a:t>Why did relative-depth results nearly tie?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9730D4-C3B8-4660-9502-999E14BD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47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81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38293E-7018-40FF-B4D1-2EF1E336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7190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Scale alignment and fixed K removed the scale signal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D2EF65-F228-4976-9D4E-D91476CD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38650"/>
            <a:ext cx="1047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4C7652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4C7652"/>
                </a:solidFill>
                <a:latin typeface="Avenir Next"/>
                <a:ea typeface="Avenir Next"/>
                <a:cs typeface="Avenir Next"/>
              </a:rPr>
              <a:t>Is the statistical evidence sufficient?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79EFAD-ACAF-4E8D-924D-6EF23457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886325"/>
            <a:ext cx="1047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76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3A98EA-965B-47D1-82F9-86E24E1F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863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C3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01C36"/>
                </a:solidFill>
                <a:latin typeface="Avenir Next"/>
                <a:ea typeface="Avenir Next"/>
                <a:cs typeface="Avenir Next"/>
              </a:rPr>
              <a:t>Yes at image level; multiple training seeds are still needed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878408-929C-4D69-AEFC-4FE4D86A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150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5D4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B95D4B"/>
                </a:solidFill>
                <a:latin typeface="Avenir Next"/>
                <a:ea typeface="Avenir Next"/>
                <a:cs typeface="Avenir Next"/>
              </a:rPr>
              <a:t>BACKUP QUESTIONS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57758D-00BC-4450-B679-24903C0CB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00750"/>
            <a:ext cx="10429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Why was Middlebury reframed?   |   Why did zero-shot fail?   |   What is the next experiment?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377C19-4727-4B3A-A1EB-F04ADD6A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57925"/>
            <a:ext cx="10477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687083"/>
                </a:solidFill>
                <a:latin typeface="Avenir Next"/>
                <a:ea typeface="Avenir Next"/>
                <a:cs typeface="Avenir Next"/>
              </a:rPr>
              <a:t>Complete answers and additional questions: §13 of the Persian comprehensive guide</a:t>
            </a:r>
          </a:p>
        </p:txBody>
      </p:sp>
    </p:spTree>
    <p:extLst>
      <p:ext uri="{BB962C8B-B14F-4D97-AF65-F5344CB8AC3E}">
        <p14:creationId xmlns:p14="http://schemas.microsoft.com/office/powerpoint/2010/main" val="3775394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2026-08-13T13:40:00.1580000Z</dcterms:created>
  <dcterms:modified xsi:type="dcterms:W3CDTF">2026-08-13T13:40:00.1580000Z</dcterms:modified>
</coreProperties>
</file>